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23536F-E69B-4B03-8F9A-2005032856DF}" v="374" dt="2025-11-10T20:13:52.0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8E5E-745C-407D-B425-C78EBF08D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1501" y="822960"/>
            <a:ext cx="6057899" cy="5015169"/>
          </a:xfrm>
        </p:spPr>
        <p:txBody>
          <a:bodyPr anchor="t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7A4D5-56F4-4287-B174-56C55B18FD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9113" y="3003642"/>
            <a:ext cx="3522199" cy="2900274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B9C19-FEE0-4852-B181-14A0DD77F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127DDF-01B7-463C-82BC-BBF42961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056A-C3EE-4809-B1F3-1CEEEA26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40FCEE-B6E2-46D0-9BB0-F45F79545E9D}"/>
              </a:ext>
            </a:extLst>
          </p:cNvPr>
          <p:cNvCxnSpPr>
            <a:cxnSpLocks/>
          </p:cNvCxnSpPr>
          <p:nvPr/>
        </p:nvCxnSpPr>
        <p:spPr>
          <a:xfrm flipH="1">
            <a:off x="571501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D2FB83-3783-4477-80B5-DA5BF10BAF57}"/>
              </a:ext>
            </a:extLst>
          </p:cNvPr>
          <p:cNvCxnSpPr>
            <a:cxnSpLocks/>
          </p:cNvCxnSpPr>
          <p:nvPr/>
        </p:nvCxnSpPr>
        <p:spPr>
          <a:xfrm>
            <a:off x="7742482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83EA203-71D5-49C0-9626-FFA8E46787B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15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2ED8-7F53-4C03-A740-493E507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1087-99A9-4100-B5F7-520880DE3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9" y="2075688"/>
            <a:ext cx="11059811" cy="3910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B4B20-1A65-4A26-B11E-6095083A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52D3-E985-4FEB-89B9-57C754711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A751A-C72D-47C1-A7A6-E8510A40C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93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81F78-07BF-45A9-92D4-E4E0A1E8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914255"/>
            <a:ext cx="6867115" cy="5009471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C2A83-A380-4828-BC68-C065C8BC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39817" y="914399"/>
            <a:ext cx="2370268" cy="2670273"/>
          </a:xfrm>
        </p:spPr>
        <p:txBody>
          <a:bodyPr anchor="t">
            <a:normAutofit/>
          </a:bodyPr>
          <a:lstStyle>
            <a:lvl1pPr marL="0" indent="0">
              <a:lnSpc>
                <a:spcPct val="130000"/>
              </a:lnSpc>
              <a:buNone/>
              <a:defRPr sz="1400" cap="all" spc="3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92B2F-8804-4195-A779-F5C67C25C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99C26-4411-4833-A917-A45E62D5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68C7C7-F862-434D-A87A-DECE9FD2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0BAA4B-C4C0-40C1-8DC8-B4E2F8A68E12}"/>
              </a:ext>
            </a:extLst>
          </p:cNvPr>
          <p:cNvCxnSpPr>
            <a:cxnSpLocks/>
          </p:cNvCxnSpPr>
          <p:nvPr/>
        </p:nvCxnSpPr>
        <p:spPr>
          <a:xfrm>
            <a:off x="8872625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0A2259-2540-4B32-A999-2B46A6790E3D}"/>
              </a:ext>
            </a:extLst>
          </p:cNvPr>
          <p:cNvCxnSpPr>
            <a:cxnSpLocks/>
          </p:cNvCxnSpPr>
          <p:nvPr/>
        </p:nvCxnSpPr>
        <p:spPr>
          <a:xfrm flipH="1">
            <a:off x="566094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EFB0ED-3F76-4403-AD0B-E738DD9D8CB6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139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6BD5F-CF53-4DD5-B8C5-27BBA2BB8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09684"/>
            <a:ext cx="11049000" cy="1057160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C2E1-5D5E-409F-BEE8-F48CE86F5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9447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BBF823-1BFB-4CF0-BAF4-D660C8F1A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7082" y="2074990"/>
            <a:ext cx="5181600" cy="4101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F816E-EE02-44A4-8B81-B324ECFD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4D9E4-A693-44D2-A3E8-E3AABC905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4F669F-4B8E-415D-A9BF-AD451F452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0AF959-FCDC-4B92-9324-06A06C0D56F2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5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87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F85E5-82C4-4BAE-B2B0-A078ABD6C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469" y="699118"/>
            <a:ext cx="11025062" cy="1063601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D15C7-F445-40F7-88F6-FD6526269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468" y="2022883"/>
            <a:ext cx="5230469" cy="564079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652C35-AA8E-4154-8A78-7DE9590E1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3469" y="2866031"/>
            <a:ext cx="5157787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57EAC6-567C-4A4A-BB10-57EC14B97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41470" y="2022883"/>
            <a:ext cx="5183188" cy="564080"/>
          </a:xfrm>
        </p:spPr>
        <p:txBody>
          <a:bodyPr anchor="ctr">
            <a:normAutofit/>
          </a:bodyPr>
          <a:lstStyle>
            <a:lvl1pPr marL="0" indent="0">
              <a:buNone/>
              <a:defRPr sz="16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A083F-AD60-4437-B32A-44035D78AF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41470" y="2866031"/>
            <a:ext cx="5183188" cy="32276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DBF86F-3266-4551-B680-06F401FFE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B38FE-80F9-4582-B2E1-B067C288D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7BEF32-F637-47A1-9ED3-AFC4F79F3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0C508D4-7C99-4B8D-BCDE-F0001BD345D9}"/>
              </a:ext>
            </a:extLst>
          </p:cNvPr>
          <p:cNvCxnSpPr>
            <a:cxnSpLocks/>
          </p:cNvCxnSpPr>
          <p:nvPr/>
        </p:nvCxnSpPr>
        <p:spPr>
          <a:xfrm flipV="1">
            <a:off x="6101405" y="1883336"/>
            <a:ext cx="0" cy="43996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9BF61B-7951-48F4-982B-9401A483FFBF}"/>
              </a:ext>
            </a:extLst>
          </p:cNvPr>
          <p:cNvCxnSpPr>
            <a:cxnSpLocks/>
          </p:cNvCxnSpPr>
          <p:nvPr/>
        </p:nvCxnSpPr>
        <p:spPr>
          <a:xfrm flipH="1">
            <a:off x="577485" y="273859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194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A94CB-6BE5-4B9E-B0A6-54F83B20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717452"/>
            <a:ext cx="11049000" cy="116183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8643C-1A5D-4F23-B0D7-5B46F5E45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1A3394-78CC-43B0-9762-5E826F8B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47F0A-1980-4E13-AB22-AE3B8AA44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E9D858B-8A9C-4235-B151-81C99A3D20D2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C7798B-3ECB-4076-8955-A82116BB0D2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61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61D85-3E72-406F-AB26-B4ED9491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9C831E-4321-467E-9090-C89C48CF2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8A9556-B3D8-4403-835F-11AE2D40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6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0AA48-D521-423D-B185-6490EF57B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201" y="810344"/>
            <a:ext cx="3478084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E6DD-DDD2-4ED6-B8A9-A8B6D7656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9809" y="931232"/>
            <a:ext cx="6700679" cy="507936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F08F5E-AD33-4ACF-84C9-78B0FF6BE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500" y="2578608"/>
            <a:ext cx="3478783" cy="34172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D7604E-7DD4-4497-B325-74F899E8A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2BEED-A8F6-4256-9539-4434694A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EA1AA6-EE0B-48FD-A7DE-6CEE6A8C7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F35B32-9A23-4805-94A6-96826D202139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2BA7DA-3944-40D4-91CD-40CA24DBB79B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EA0B78-39E7-4039-B8BE-4F425688C6DF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68B99C-0744-42EE-9713-AB0CEC3F5D85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619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12732-5D39-4B30-A499-D51BABC8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499" y="802204"/>
            <a:ext cx="3478787" cy="1408062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AF5AEC-77BC-4A52-8A56-C6479CA6A2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23467" y="847384"/>
            <a:ext cx="6907844" cy="521681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A9240-8762-4C7D-AF22-A844CB2EC8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1498" y="2574906"/>
            <a:ext cx="3478787" cy="34357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95685-E45D-4E74-8B78-D3B8E85C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1FCBA3-0FF5-47C2-901A-645F618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30381-5320-46AD-A0B9-7C04B3E5A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357A432-D933-402A-8657-216EE20450EE}"/>
              </a:ext>
            </a:extLst>
          </p:cNvPr>
          <p:cNvCxnSpPr>
            <a:cxnSpLocks/>
          </p:cNvCxnSpPr>
          <p:nvPr/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B1E0F3-D71B-436F-A10B-B6EA7125F684}"/>
              </a:ext>
            </a:extLst>
          </p:cNvPr>
          <p:cNvCxnSpPr>
            <a:cxnSpLocks/>
          </p:cNvCxnSpPr>
          <p:nvPr/>
        </p:nvCxnSpPr>
        <p:spPr>
          <a:xfrm flipV="1">
            <a:off x="4419601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DEE64F5-2B48-4A2E-BA5E-1D37F1A7C9A3}"/>
              </a:ext>
            </a:extLst>
          </p:cNvPr>
          <p:cNvCxnSpPr>
            <a:cxnSpLocks/>
          </p:cNvCxnSpPr>
          <p:nvPr/>
        </p:nvCxnSpPr>
        <p:spPr>
          <a:xfrm flipH="1">
            <a:off x="571501" y="2406845"/>
            <a:ext cx="3848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9BF9AA-A2C8-4233-B597-EB11C6D6A0E0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867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99A0A-70FC-426A-8B3B-60FAF9806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F47EC6-9753-4ABC-BB66-64CCC8BA08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71499" y="2036363"/>
            <a:ext cx="11059811" cy="38707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884D9F-DC99-4B4C-98CF-178BBBB76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6840-AC0B-4260-8368-08E0A22D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5DAB8-EC07-4CCF-96EA-5D8ACDAE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38F1AC-9961-4786-A189-20863DD97F68}"/>
              </a:ext>
            </a:extLst>
          </p:cNvPr>
          <p:cNvCxnSpPr>
            <a:cxnSpLocks/>
          </p:cNvCxnSpPr>
          <p:nvPr/>
        </p:nvCxnSpPr>
        <p:spPr>
          <a:xfrm flipH="1">
            <a:off x="571500" y="1780979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39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75F678-EC03-4845-A51B-C90FA6A154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77953" y="797251"/>
            <a:ext cx="2483929" cy="52837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A8B4D-A39F-4528-975A-9C84BEE77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6094" y="797251"/>
            <a:ext cx="8101072" cy="52837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5E4A23-6984-4AD1-A51D-600EDC26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73E28-C341-49CC-BAAB-0C0D1982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6D54A-8E86-4026-8DD0-5B0979BB8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CB05DA4-DF32-4D7A-9E4D-36309C90C5BB}"/>
              </a:ext>
            </a:extLst>
          </p:cNvPr>
          <p:cNvCxnSpPr>
            <a:cxnSpLocks/>
          </p:cNvCxnSpPr>
          <p:nvPr/>
        </p:nvCxnSpPr>
        <p:spPr>
          <a:xfrm flipH="1">
            <a:off x="566094" y="57711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7CC7262-4997-41E4-976D-BA82E148280F}"/>
              </a:ext>
            </a:extLst>
          </p:cNvPr>
          <p:cNvCxnSpPr>
            <a:cxnSpLocks/>
          </p:cNvCxnSpPr>
          <p:nvPr/>
        </p:nvCxnSpPr>
        <p:spPr>
          <a:xfrm flipV="1">
            <a:off x="8875226" y="571500"/>
            <a:ext cx="0" cy="57114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F5063B5-E478-4C41-AD40-49A39AE07429}"/>
              </a:ext>
            </a:extLst>
          </p:cNvPr>
          <p:cNvCxnSpPr>
            <a:cxnSpLocks/>
          </p:cNvCxnSpPr>
          <p:nvPr/>
        </p:nvCxnSpPr>
        <p:spPr>
          <a:xfrm flipH="1">
            <a:off x="577485" y="6283518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0774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E1467D-9ED1-4211-A71E-41C91C75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89289"/>
            <a:ext cx="11049000" cy="10841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F8A6A1-C9C7-4FDF-B4DA-1E86B6A355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499" y="2075688"/>
            <a:ext cx="11059811" cy="38180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CC44A-C635-4CD0-90E9-D9503AF4C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36732" y="6397103"/>
            <a:ext cx="30919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fld id="{1C8322F6-1C60-46CF-968C-BC20E470F443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BF682-1A47-492C-81E3-9DB0A50ECB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5782" y="639710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C814B-9105-44ED-98A9-D326B2E26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4553" y="6397103"/>
            <a:ext cx="700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EB83C2-341F-4C28-A243-1C56DDDA54D3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6814345-41DE-42C5-8657-66C1417DF81A}"/>
              </a:ext>
            </a:extLst>
          </p:cNvPr>
          <p:cNvCxnSpPr>
            <a:cxnSpLocks/>
          </p:cNvCxnSpPr>
          <p:nvPr/>
        </p:nvCxnSpPr>
        <p:spPr>
          <a:xfrm flipH="1">
            <a:off x="566094" y="6286347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68E419-3727-4F5E-8840-AF149B33B0B7}"/>
              </a:ext>
            </a:extLst>
          </p:cNvPr>
          <p:cNvCxnSpPr>
            <a:cxnSpLocks/>
          </p:cNvCxnSpPr>
          <p:nvPr/>
        </p:nvCxnSpPr>
        <p:spPr>
          <a:xfrm flipH="1">
            <a:off x="577485" y="1883336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519B6EC-D7AE-452F-8D0C-D11BD3377F3E}"/>
              </a:ext>
            </a:extLst>
          </p:cNvPr>
          <p:cNvCxnSpPr>
            <a:cxnSpLocks/>
          </p:cNvCxnSpPr>
          <p:nvPr/>
        </p:nvCxnSpPr>
        <p:spPr>
          <a:xfrm flipH="1">
            <a:off x="577485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9870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100" baseline="0">
          <a:solidFill>
            <a:schemeClr val="tx1"/>
          </a:solidFill>
          <a:latin typeface="Batang" panose="02030600000101010101" pitchFamily="18" charset="-127"/>
          <a:ea typeface="Batang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venir Next LT Pro Light" panose="020B03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3C95BF9-2BBD-4260-A118-8F51580360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1207" y="886968"/>
            <a:ext cx="7213093" cy="3866029"/>
          </a:xfrm>
        </p:spPr>
        <p:txBody>
          <a:bodyPr>
            <a:normAutofit/>
          </a:bodyPr>
          <a:lstStyle/>
          <a:p>
            <a:r>
              <a:rPr lang="en-US" sz="6000">
                <a:latin typeface="Rockwell"/>
              </a:rPr>
              <a:t>Data Science Salary Analysis &amp; Recommendations</a:t>
            </a:r>
            <a:endParaRPr lang="en-US" sz="6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34300" y="4450622"/>
            <a:ext cx="3975397" cy="14611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>
                <a:latin typeface="Segoe UI"/>
                <a:cs typeface="Segoe UI"/>
              </a:rPr>
              <a:t>By Peter Jordan</a:t>
            </a:r>
          </a:p>
          <a:p>
            <a:pPr algn="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A398C7-3FA4-4D8D-8392-B6CD2F434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571500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7D19053-F48D-4B66-AF7B-A06FA6D2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5529" y="6287281"/>
            <a:ext cx="110598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889F449-A8C1-4223-8D3F-453A7C93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C6D531-CAE7-F009-B9CA-28297E491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8777"/>
            <a:ext cx="2632002" cy="5099442"/>
          </a:xfrm>
        </p:spPr>
        <p:txBody>
          <a:bodyPr anchor="t">
            <a:normAutofit/>
          </a:bodyPr>
          <a:lstStyle/>
          <a:p>
            <a:r>
              <a:rPr lang="en-US" sz="3400" dirty="0">
                <a:latin typeface="Rockwell"/>
                <a:ea typeface="Batang"/>
              </a:rPr>
              <a:t>Introduction &amp; Objective</a:t>
            </a:r>
          </a:p>
          <a:p>
            <a:endParaRPr lang="en-US" sz="3400">
              <a:latin typeface="Rockwell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B483DE6-F425-4CA0-9983-0778A131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8F3C27F-5DD1-4734-BC17-6CA44602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F67967-936C-4D11-B434-DEBD15F2B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147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8D913-DD9A-01D8-AF14-385C1C8F19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570" y="939782"/>
            <a:ext cx="7724000" cy="50348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500" b="1" dirty="0">
                <a:ea typeface="+mn-lt"/>
                <a:cs typeface="+mn-lt"/>
              </a:rPr>
              <a:t>Purpose of the Analysis:</a:t>
            </a: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Our company plans to hire a </a:t>
            </a:r>
            <a:r>
              <a:rPr lang="en-US" sz="1500" b="1" dirty="0">
                <a:ea typeface="+mn-lt"/>
                <a:cs typeface="+mn-lt"/>
              </a:rPr>
              <a:t>full-time Data Scientist</a:t>
            </a:r>
            <a:r>
              <a:rPr lang="en-US" sz="1500" dirty="0">
                <a:ea typeface="+mn-lt"/>
                <a:cs typeface="+mn-lt"/>
              </a:rPr>
              <a:t> to lead data-driven decision-making.</a:t>
            </a:r>
            <a:endParaRPr lang="en-US" sz="1500" dirty="0"/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The goal is to determine a </a:t>
            </a:r>
            <a:r>
              <a:rPr lang="en-US" sz="1500" b="1" dirty="0">
                <a:ea typeface="+mn-lt"/>
                <a:cs typeface="+mn-lt"/>
              </a:rPr>
              <a:t>competitive salary range</a:t>
            </a:r>
            <a:r>
              <a:rPr lang="en-US" sz="1500" dirty="0">
                <a:ea typeface="+mn-lt"/>
                <a:cs typeface="+mn-lt"/>
              </a:rPr>
              <a:t> to attract and retain top talent.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The position may be </a:t>
            </a:r>
            <a:r>
              <a:rPr lang="en-US" sz="1500" b="1" dirty="0">
                <a:ea typeface="+mn-lt"/>
                <a:cs typeface="+mn-lt"/>
              </a:rPr>
              <a:t>U.S.-based or offshore</a:t>
            </a:r>
            <a:r>
              <a:rPr lang="en-US" sz="1500" dirty="0">
                <a:ea typeface="+mn-lt"/>
                <a:cs typeface="+mn-lt"/>
              </a:rPr>
              <a:t>, with consideration for </a:t>
            </a:r>
            <a:r>
              <a:rPr lang="en-US" sz="1500" b="1" dirty="0">
                <a:ea typeface="+mn-lt"/>
                <a:cs typeface="+mn-lt"/>
              </a:rPr>
              <a:t>remote and hybrid work flexibility</a:t>
            </a:r>
            <a:r>
              <a:rPr lang="en-US" sz="1500" dirty="0">
                <a:ea typeface="+mn-lt"/>
                <a:cs typeface="+mn-lt"/>
              </a:rPr>
              <a:t> to optimize cost and talent availability.</a:t>
            </a:r>
            <a:endParaRPr lang="en-US" sz="1500" dirty="0"/>
          </a:p>
          <a:p>
            <a:pPr>
              <a:lnSpc>
                <a:spcPct val="110000"/>
              </a:lnSpc>
            </a:pPr>
            <a:endParaRPr lang="en-US" sz="1500"/>
          </a:p>
          <a:p>
            <a:pPr>
              <a:lnSpc>
                <a:spcPct val="110000"/>
              </a:lnSpc>
            </a:pPr>
            <a:r>
              <a:rPr lang="en-US" sz="1500" b="1" dirty="0"/>
              <a:t>Key Questions: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What is the </a:t>
            </a:r>
            <a:r>
              <a:rPr lang="en-US" sz="1500" b="1" dirty="0">
                <a:ea typeface="+mn-lt"/>
                <a:cs typeface="+mn-lt"/>
              </a:rPr>
              <a:t>typical salary range</a:t>
            </a:r>
            <a:r>
              <a:rPr lang="en-US" sz="1500" dirty="0">
                <a:ea typeface="+mn-lt"/>
                <a:cs typeface="+mn-lt"/>
              </a:rPr>
              <a:t> for core data science roles?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How do </a:t>
            </a:r>
            <a:r>
              <a:rPr lang="en-US" sz="1500" b="1" dirty="0">
                <a:ea typeface="+mn-lt"/>
                <a:cs typeface="+mn-lt"/>
              </a:rPr>
              <a:t>experience levels</a:t>
            </a:r>
            <a:r>
              <a:rPr lang="en-US" sz="1500" dirty="0">
                <a:ea typeface="+mn-lt"/>
                <a:cs typeface="+mn-lt"/>
              </a:rPr>
              <a:t> and </a:t>
            </a:r>
            <a:r>
              <a:rPr lang="en-US" sz="1500" b="1" dirty="0">
                <a:ea typeface="+mn-lt"/>
                <a:cs typeface="+mn-lt"/>
              </a:rPr>
              <a:t>company size</a:t>
            </a:r>
            <a:r>
              <a:rPr lang="en-US" sz="1500" dirty="0">
                <a:ea typeface="+mn-lt"/>
                <a:cs typeface="+mn-lt"/>
              </a:rPr>
              <a:t> influence pay?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What is the </a:t>
            </a:r>
            <a:r>
              <a:rPr lang="en-US" sz="1500" b="1" dirty="0">
                <a:ea typeface="+mn-lt"/>
                <a:cs typeface="+mn-lt"/>
              </a:rPr>
              <a:t>difference between U.S. and non-U.S.</a:t>
            </a:r>
            <a:r>
              <a:rPr lang="en-US" sz="1500" dirty="0">
                <a:ea typeface="+mn-lt"/>
                <a:cs typeface="+mn-lt"/>
              </a:rPr>
              <a:t> salaries?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How does </a:t>
            </a:r>
            <a:r>
              <a:rPr lang="en-US" sz="1500" b="1" dirty="0">
                <a:ea typeface="+mn-lt"/>
                <a:cs typeface="+mn-lt"/>
              </a:rPr>
              <a:t>remote flexibility</a:t>
            </a:r>
            <a:r>
              <a:rPr lang="en-US" sz="1500" dirty="0">
                <a:ea typeface="+mn-lt"/>
                <a:cs typeface="+mn-lt"/>
              </a:rPr>
              <a:t> impact compensation?</a:t>
            </a:r>
          </a:p>
          <a:p>
            <a:pPr>
              <a:lnSpc>
                <a:spcPct val="110000"/>
              </a:lnSpc>
            </a:pPr>
            <a:r>
              <a:rPr lang="en-US" sz="1500" dirty="0">
                <a:ea typeface="+mn-lt"/>
                <a:cs typeface="+mn-lt"/>
              </a:rPr>
              <a:t>What would be a </a:t>
            </a:r>
            <a:r>
              <a:rPr lang="en-US" sz="1500" b="1" dirty="0">
                <a:ea typeface="+mn-lt"/>
                <a:cs typeface="+mn-lt"/>
              </a:rPr>
              <a:t>realistic and competitive range</a:t>
            </a:r>
            <a:r>
              <a:rPr lang="en-US" sz="1500" dirty="0">
                <a:ea typeface="+mn-lt"/>
                <a:cs typeface="+mn-lt"/>
              </a:rPr>
              <a:t> for a small but growing company?</a:t>
            </a:r>
            <a:endParaRPr lang="en-US" sz="1500"/>
          </a:p>
          <a:p>
            <a:pPr>
              <a:lnSpc>
                <a:spcPct val="110000"/>
              </a:lnSpc>
            </a:pPr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1115816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D28D120-1389-4B3F-BECB-0949DCCAC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782" y="0"/>
            <a:ext cx="1219878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CD7C12-58F5-C9E5-0C98-8DB09CDB6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3656083" cy="2665614"/>
          </a:xfrm>
        </p:spPr>
        <p:txBody>
          <a:bodyPr anchor="t">
            <a:normAutofit/>
          </a:bodyPr>
          <a:lstStyle/>
          <a:p>
            <a:r>
              <a:rPr lang="en-US" dirty="0">
                <a:latin typeface="Rockwell"/>
                <a:ea typeface="Batang"/>
              </a:rPr>
              <a:t>Data Selection &amp; Filtering</a:t>
            </a:r>
            <a:endParaRPr lang="en-US" dirty="0">
              <a:latin typeface="Rockwell"/>
            </a:endParaRPr>
          </a:p>
          <a:p>
            <a:endParaRPr lang="en-US" dirty="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27055D-9ECF-487E-91DD-FFA84AB9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333" y="571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with blue and white text&#10;&#10;AI-generated content may be incorrect.">
            <a:extLst>
              <a:ext uri="{FF2B5EF4-FFF2-40B4-BE49-F238E27FC236}">
                <a16:creationId xmlns:a16="http://schemas.microsoft.com/office/drawing/2014/main" id="{3FDAE08D-EFD6-35B0-3EC2-92D5C51903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53" r="-3" b="-3"/>
          <a:stretch>
            <a:fillRect/>
          </a:stretch>
        </p:blipFill>
        <p:spPr>
          <a:xfrm>
            <a:off x="365188" y="4122234"/>
            <a:ext cx="3977508" cy="18776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7D678-09D6-0FE4-2978-7CEADEBB8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1765" y="989350"/>
            <a:ext cx="6699544" cy="5021609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1200" b="1" dirty="0">
                <a:ea typeface="+mn-lt"/>
                <a:cs typeface="+mn-lt"/>
              </a:rPr>
              <a:t>Purpose: To align the analysis with the CEO’s hiring goal — identifying fair and competitive pay for a full-time Data Scientist</a:t>
            </a:r>
            <a:r>
              <a:rPr lang="en-US" sz="1200" dirty="0">
                <a:ea typeface="+mn-lt"/>
                <a:cs typeface="+mn-lt"/>
              </a:rPr>
              <a:t> who can </a:t>
            </a:r>
            <a:r>
              <a:rPr lang="en-US" sz="1200" b="1" dirty="0">
                <a:ea typeface="+mn-lt"/>
                <a:cs typeface="+mn-lt"/>
              </a:rPr>
              <a:t>drive data strategy</a:t>
            </a:r>
            <a:r>
              <a:rPr lang="en-US" sz="1200" dirty="0">
                <a:ea typeface="+mn-lt"/>
                <a:cs typeface="+mn-lt"/>
              </a:rPr>
              <a:t> and potentially </a:t>
            </a:r>
            <a:r>
              <a:rPr lang="en-US" sz="1200" b="1" dirty="0">
                <a:ea typeface="+mn-lt"/>
                <a:cs typeface="+mn-lt"/>
              </a:rPr>
              <a:t>lead a team</a:t>
            </a:r>
            <a:r>
              <a:rPr lang="en-US" sz="1200" dirty="0">
                <a:ea typeface="+mn-lt"/>
                <a:cs typeface="+mn-lt"/>
              </a:rPr>
              <a:t> as the company grows.</a:t>
            </a:r>
            <a:endParaRPr lang="en-US"/>
          </a:p>
          <a:p>
            <a:r>
              <a:rPr lang="en-US" sz="1200" b="1" dirty="0">
                <a:ea typeface="+mn-lt"/>
                <a:cs typeface="+mn-lt"/>
              </a:rPr>
              <a:t>Approach: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Started with 607 total records from global data roles.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Filtered to </a:t>
            </a:r>
            <a:r>
              <a:rPr lang="en-US" sz="1200" b="1" dirty="0">
                <a:ea typeface="+mn-lt"/>
                <a:cs typeface="+mn-lt"/>
              </a:rPr>
              <a:t>core data science titles</a:t>
            </a:r>
            <a:r>
              <a:rPr lang="en-US" sz="1200" dirty="0">
                <a:ea typeface="+mn-lt"/>
                <a:cs typeface="+mn-lt"/>
              </a:rPr>
              <a:t> most relevant to this hire:</a:t>
            </a:r>
            <a:br>
              <a:rPr lang="en-US" sz="1200" dirty="0">
                <a:ea typeface="+mn-lt"/>
                <a:cs typeface="+mn-lt"/>
              </a:rPr>
            </a:br>
            <a:r>
              <a:rPr lang="en-US" sz="1200" i="1" dirty="0">
                <a:ea typeface="+mn-lt"/>
                <a:cs typeface="+mn-lt"/>
              </a:rPr>
              <a:t>Data Scientist, Lead/Principal Data Scientist, Data Science Manager, Director/Head of Data Science, AI Scientist, Machine Learning Scientist, Applied Data Scientist, Research Scientist, Consultant.</a:t>
            </a:r>
            <a:endParaRPr lang="en-US" i="1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Excluded engineering- and analytics-oriented titles (e.g., </a:t>
            </a:r>
            <a:r>
              <a:rPr lang="en-US" sz="1200" i="1" dirty="0">
                <a:ea typeface="+mn-lt"/>
                <a:cs typeface="+mn-lt"/>
              </a:rPr>
              <a:t>Data Engineer, BI Analyst, Marketing Data Analyst, Data Architect</a:t>
            </a:r>
            <a:r>
              <a:rPr lang="en-US" sz="1200" dirty="0">
                <a:ea typeface="+mn-lt"/>
                <a:cs typeface="+mn-lt"/>
              </a:rPr>
              <a:t>) to maintain a focused view on modeling and AI/ML work.</a:t>
            </a:r>
            <a:endParaRPr lang="en-US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Rationale:</a:t>
            </a:r>
            <a:endParaRPr lang="en-US" dirty="0"/>
          </a:p>
          <a:p>
            <a:r>
              <a:rPr lang="en-US" sz="1200" dirty="0">
                <a:ea typeface="+mn-lt"/>
                <a:cs typeface="+mn-lt"/>
              </a:rPr>
              <a:t>These core roles involve </a:t>
            </a:r>
            <a:r>
              <a:rPr lang="en-US" sz="1200" b="1" dirty="0">
                <a:ea typeface="+mn-lt"/>
                <a:cs typeface="+mn-lt"/>
              </a:rPr>
              <a:t>model building, experimentation, and advanced analytics</a:t>
            </a:r>
            <a:r>
              <a:rPr lang="en-US" sz="1200" dirty="0">
                <a:ea typeface="+mn-lt"/>
                <a:cs typeface="+mn-lt"/>
              </a:rPr>
              <a:t>, not just reporting or infrastructure.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Leadership titles in this subset reflect the </a:t>
            </a:r>
            <a:r>
              <a:rPr lang="en-US" sz="1200" b="1" dirty="0">
                <a:ea typeface="+mn-lt"/>
                <a:cs typeface="+mn-lt"/>
              </a:rPr>
              <a:t>career path of a Data Scientist</a:t>
            </a:r>
            <a:r>
              <a:rPr lang="en-US" sz="1200" dirty="0">
                <a:ea typeface="+mn-lt"/>
                <a:cs typeface="+mn-lt"/>
              </a:rPr>
              <a:t> moving into management — aligning with the CEO’s long-term vision.</a:t>
            </a:r>
            <a:endParaRPr lang="en-US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Including unrelated roles would </a:t>
            </a:r>
            <a:r>
              <a:rPr lang="en-US" sz="1200" b="1" dirty="0">
                <a:ea typeface="+mn-lt"/>
                <a:cs typeface="+mn-lt"/>
              </a:rPr>
              <a:t>skew salaries downward</a:t>
            </a:r>
            <a:r>
              <a:rPr lang="en-US" sz="1200" dirty="0">
                <a:ea typeface="+mn-lt"/>
                <a:cs typeface="+mn-lt"/>
              </a:rPr>
              <a:t> and dilute relevance to the position being filled.</a:t>
            </a:r>
            <a:endParaRPr lang="en-US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Key Outcome: </a:t>
            </a:r>
            <a:endParaRPr lang="en-US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A refined subset of 215 relevant records</a:t>
            </a:r>
            <a:r>
              <a:rPr lang="en-US" sz="1200" dirty="0">
                <a:ea typeface="+mn-lt"/>
                <a:cs typeface="+mn-lt"/>
              </a:rPr>
              <a:t> that best represents the market for a </a:t>
            </a:r>
            <a:r>
              <a:rPr lang="en-US" sz="1200" b="1" dirty="0">
                <a:ea typeface="+mn-lt"/>
                <a:cs typeface="+mn-lt"/>
              </a:rPr>
              <a:t>leadership-track Data Scientist</a:t>
            </a:r>
            <a:r>
              <a:rPr lang="en-US" sz="1200" dirty="0">
                <a:ea typeface="+mn-lt"/>
                <a:cs typeface="+mn-lt"/>
              </a:rPr>
              <a:t> — the type of candidate who can establish and scale data science within a growing organization.</a:t>
            </a:r>
            <a:endParaRPr lang="en-US">
              <a:ea typeface="+mn-lt"/>
              <a:cs typeface="+mn-lt"/>
            </a:endParaRPr>
          </a:p>
          <a:p>
            <a:endParaRPr lang="en-US" sz="1200" b="1" dirty="0">
              <a:ea typeface="+mn-lt"/>
              <a:cs typeface="+mn-lt"/>
            </a:endParaRPr>
          </a:p>
          <a:p>
            <a:pPr>
              <a:lnSpc>
                <a:spcPct val="110000"/>
              </a:lnSpc>
            </a:pPr>
            <a:endParaRPr lang="en-US" sz="1000" b="1" dirty="0"/>
          </a:p>
          <a:p>
            <a:pPr>
              <a:lnSpc>
                <a:spcPct val="110000"/>
              </a:lnSpc>
            </a:pPr>
            <a:endParaRPr lang="en-US" sz="1000" b="1"/>
          </a:p>
          <a:p>
            <a:pPr>
              <a:lnSpc>
                <a:spcPct val="110000"/>
              </a:lnSpc>
            </a:pPr>
            <a:endParaRPr lang="en-US" sz="100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DC1883-8AF7-483D-9074-3C6D8AF57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CF89D75-E5AC-4C45-9D87-228849A4C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22916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F75477-8086-4A8E-9F09-5DF9FA7D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6366" y="4012345"/>
            <a:ext cx="38432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8603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528FEF-FFEE-44DF-FAC1-B6BF08B4F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85491"/>
            <a:ext cx="11110427" cy="847984"/>
          </a:xfrm>
        </p:spPr>
        <p:txBody>
          <a:bodyPr anchor="ctr">
            <a:normAutofit/>
          </a:bodyPr>
          <a:lstStyle/>
          <a:p>
            <a:r>
              <a:rPr lang="en-US">
                <a:latin typeface="Rockwell"/>
              </a:rPr>
              <a:t>Overall Salary Overview</a:t>
            </a:r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34300" y="1629923"/>
            <a:ext cx="0" cy="46540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0E2184-5CB3-4E83-A25F-90871164B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1629923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number of blue bars&#10;&#10;AI-generated content may be incorrect.">
            <a:extLst>
              <a:ext uri="{FF2B5EF4-FFF2-40B4-BE49-F238E27FC236}">
                <a16:creationId xmlns:a16="http://schemas.microsoft.com/office/drawing/2014/main" id="{53BB0868-779E-8166-2388-F0E78DFF5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32" y="2249124"/>
            <a:ext cx="6838971" cy="341948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DBEF3-EFB9-B7A7-81FC-3AE5E14B3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4630" y="2031167"/>
            <a:ext cx="3446679" cy="396723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b="1" dirty="0"/>
              <a:t>Key Insights</a:t>
            </a:r>
            <a:endParaRPr lang="en-US" sz="1200" dirty="0"/>
          </a:p>
          <a:p>
            <a:r>
              <a:rPr lang="en-US" sz="1200" dirty="0">
                <a:ea typeface="+mn-lt"/>
                <a:cs typeface="+mn-lt"/>
              </a:rPr>
              <a:t>The majority of salaries fall between </a:t>
            </a:r>
            <a:r>
              <a:rPr lang="en-US" sz="1200" b="1" dirty="0">
                <a:ea typeface="+mn-lt"/>
                <a:cs typeface="+mn-lt"/>
              </a:rPr>
              <a:t>$60,000 and $180,000</a:t>
            </a:r>
            <a:r>
              <a:rPr lang="en-US" sz="1200" dirty="0">
                <a:ea typeface="+mn-lt"/>
                <a:cs typeface="+mn-lt"/>
              </a:rPr>
              <a:t>, representing the main market range for data science professionals.</a:t>
            </a:r>
          </a:p>
          <a:p>
            <a:r>
              <a:rPr lang="en-US" sz="1200" dirty="0">
                <a:ea typeface="+mn-lt"/>
                <a:cs typeface="+mn-lt"/>
              </a:rPr>
              <a:t>Salaries are </a:t>
            </a:r>
            <a:r>
              <a:rPr lang="en-US" sz="1200" b="1" dirty="0">
                <a:ea typeface="+mn-lt"/>
                <a:cs typeface="+mn-lt"/>
              </a:rPr>
              <a:t>right-skewed</a:t>
            </a:r>
            <a:r>
              <a:rPr lang="en-US" sz="1200" dirty="0">
                <a:ea typeface="+mn-lt"/>
                <a:cs typeface="+mn-lt"/>
              </a:rPr>
              <a:t>, with a few high-end positions earning </a:t>
            </a:r>
            <a:r>
              <a:rPr lang="en-US" sz="1200" b="1" dirty="0">
                <a:ea typeface="+mn-lt"/>
                <a:cs typeface="+mn-lt"/>
              </a:rPr>
              <a:t>above $250,000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dirty="0">
                <a:ea typeface="+mn-lt"/>
                <a:cs typeface="+mn-lt"/>
              </a:rPr>
              <a:t>The most common pay range is </a:t>
            </a:r>
            <a:r>
              <a:rPr lang="en-US" sz="1200" b="1" dirty="0">
                <a:ea typeface="+mn-lt"/>
                <a:cs typeface="+mn-lt"/>
              </a:rPr>
              <a:t>$100,000–$150,000</a:t>
            </a:r>
            <a:r>
              <a:rPr lang="en-US" sz="1200" dirty="0">
                <a:ea typeface="+mn-lt"/>
                <a:cs typeface="+mn-lt"/>
              </a:rPr>
              <a:t>, typical for </a:t>
            </a:r>
            <a:r>
              <a:rPr lang="en-US" sz="1200" b="1" dirty="0">
                <a:ea typeface="+mn-lt"/>
                <a:cs typeface="+mn-lt"/>
              </a:rPr>
              <a:t>mid- to senior-level data scientists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dirty="0">
                <a:ea typeface="+mn-lt"/>
                <a:cs typeface="+mn-lt"/>
              </a:rPr>
              <a:t>Outliers </a:t>
            </a:r>
            <a:r>
              <a:rPr lang="en-US" sz="1200" b="1" dirty="0">
                <a:ea typeface="+mn-lt"/>
                <a:cs typeface="+mn-lt"/>
              </a:rPr>
              <a:t>above $300,000</a:t>
            </a:r>
            <a:r>
              <a:rPr lang="en-US" sz="1200" dirty="0">
                <a:ea typeface="+mn-lt"/>
                <a:cs typeface="+mn-lt"/>
              </a:rPr>
              <a:t> likely correspond to </a:t>
            </a:r>
            <a:r>
              <a:rPr lang="en-US" sz="1200" b="1" dirty="0">
                <a:ea typeface="+mn-lt"/>
                <a:cs typeface="+mn-lt"/>
              </a:rPr>
              <a:t>Director or Head of Data Science</a:t>
            </a:r>
            <a:r>
              <a:rPr lang="en-US" sz="1200" dirty="0">
                <a:ea typeface="+mn-lt"/>
                <a:cs typeface="+mn-lt"/>
              </a:rPr>
              <a:t> roles at larger organizations.</a:t>
            </a:r>
          </a:p>
          <a:p>
            <a:r>
              <a:rPr lang="en-US" sz="1200" dirty="0">
                <a:ea typeface="+mn-lt"/>
                <a:cs typeface="+mn-lt"/>
              </a:rPr>
              <a:t>Overall, the </a:t>
            </a:r>
            <a:r>
              <a:rPr lang="en-US" sz="1200" b="1" dirty="0">
                <a:ea typeface="+mn-lt"/>
                <a:cs typeface="+mn-lt"/>
              </a:rPr>
              <a:t>$100K–$150K range</a:t>
            </a:r>
            <a:r>
              <a:rPr lang="en-US" sz="1200" dirty="0">
                <a:ea typeface="+mn-lt"/>
                <a:cs typeface="+mn-lt"/>
              </a:rPr>
              <a:t> reflects the </a:t>
            </a:r>
            <a:r>
              <a:rPr lang="en-US" sz="1200" b="1" dirty="0">
                <a:ea typeface="+mn-lt"/>
                <a:cs typeface="+mn-lt"/>
              </a:rPr>
              <a:t>core competitive benchmark</a:t>
            </a:r>
            <a:r>
              <a:rPr lang="en-US" sz="1200" dirty="0">
                <a:ea typeface="+mn-lt"/>
                <a:cs typeface="+mn-lt"/>
              </a:rPr>
              <a:t> for hiring a qualified, full-time Data Scientist.</a:t>
            </a:r>
          </a:p>
          <a:p>
            <a:pPr>
              <a:lnSpc>
                <a:spcPct val="110000"/>
              </a:lnSpc>
            </a:pPr>
            <a:endParaRPr lang="en-US" sz="800" b="1" dirty="0"/>
          </a:p>
          <a:p>
            <a:pPr>
              <a:lnSpc>
                <a:spcPct val="110000"/>
              </a:lnSpc>
            </a:pPr>
            <a:endParaRPr lang="en-US" sz="7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6287813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305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B4594-8077-86B4-86A3-6A889E79E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3509192" cy="2008193"/>
          </a:xfrm>
        </p:spPr>
        <p:txBody>
          <a:bodyPr anchor="t">
            <a:normAutofit/>
          </a:bodyPr>
          <a:lstStyle/>
          <a:p>
            <a:r>
              <a:rPr lang="en-US">
                <a:latin typeface="Rockwell"/>
                <a:ea typeface="Batang"/>
              </a:rPr>
              <a:t>Salaries by Experience Level</a:t>
            </a:r>
            <a:endParaRPr lang="en-US" dirty="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AF956-D3A6-FD2A-C1B5-716029760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2" y="3066892"/>
            <a:ext cx="3276598" cy="285647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 b="1"/>
              <a:t>Experience Level &amp; Compensation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 b="1" dirty="0">
                <a:ea typeface="+mn-lt"/>
                <a:cs typeface="+mn-lt"/>
              </a:rPr>
              <a:t>Key Insights: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dirty="0">
                <a:ea typeface="+mn-lt"/>
                <a:cs typeface="+mn-lt"/>
              </a:rPr>
              <a:t>Salaries rise steadily with experience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>
                <a:ea typeface="+mn-lt"/>
                <a:cs typeface="+mn-lt"/>
              </a:rPr>
              <a:t>Entry-level median: </a:t>
            </a:r>
            <a:r>
              <a:rPr lang="en-US" sz="900" b="1">
                <a:ea typeface="+mn-lt"/>
                <a:cs typeface="+mn-lt"/>
              </a:rPr>
              <a:t>≈ $58K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>
                <a:ea typeface="+mn-lt"/>
                <a:cs typeface="+mn-lt"/>
              </a:rPr>
              <a:t>Mid-level median: </a:t>
            </a:r>
            <a:r>
              <a:rPr lang="en-US" sz="900" b="1">
                <a:ea typeface="+mn-lt"/>
                <a:cs typeface="+mn-lt"/>
              </a:rPr>
              <a:t>≈ $85K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>
                <a:ea typeface="+mn-lt"/>
                <a:cs typeface="+mn-lt"/>
              </a:rPr>
              <a:t>Senior-level median: </a:t>
            </a:r>
            <a:r>
              <a:rPr lang="en-US" sz="900" b="1">
                <a:ea typeface="+mn-lt"/>
                <a:cs typeface="+mn-lt"/>
              </a:rPr>
              <a:t>≈ $145K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>
                <a:ea typeface="+mn-lt"/>
                <a:cs typeface="+mn-lt"/>
              </a:rPr>
              <a:t>Executive-level median: </a:t>
            </a:r>
            <a:r>
              <a:rPr lang="en-US" sz="900" b="1">
                <a:ea typeface="+mn-lt"/>
                <a:cs typeface="+mn-lt"/>
              </a:rPr>
              <a:t>≈ $160K+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 b="1">
                <a:ea typeface="+mn-lt"/>
                <a:cs typeface="+mn-lt"/>
              </a:rPr>
              <a:t>Takeaway:</a:t>
            </a:r>
            <a:endParaRPr lang="en-US" sz="900"/>
          </a:p>
          <a:p>
            <a:pPr>
              <a:lnSpc>
                <a:spcPct val="110000"/>
              </a:lnSpc>
            </a:pPr>
            <a:r>
              <a:rPr lang="en-US" sz="900">
                <a:ea typeface="+mn-lt"/>
                <a:cs typeface="+mn-lt"/>
              </a:rPr>
              <a:t>Salary progression follows a clear experience curve — </a:t>
            </a:r>
            <a:r>
              <a:rPr lang="en-US" sz="900" b="1">
                <a:ea typeface="+mn-lt"/>
                <a:cs typeface="+mn-lt"/>
              </a:rPr>
              <a:t>mid to senior levels</a:t>
            </a:r>
            <a:r>
              <a:rPr lang="en-US" sz="900">
                <a:ea typeface="+mn-lt"/>
                <a:cs typeface="+mn-lt"/>
              </a:rPr>
              <a:t> represent the most competitive range for our target hire.</a:t>
            </a:r>
            <a:endParaRPr lang="en-US" sz="900"/>
          </a:p>
          <a:p>
            <a:pPr>
              <a:lnSpc>
                <a:spcPct val="110000"/>
              </a:lnSpc>
            </a:pPr>
            <a:endParaRPr lang="en-US" sz="9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hart with blue and white squares&#10;&#10;AI-generated content may be incorrect.">
            <a:extLst>
              <a:ext uri="{FF2B5EF4-FFF2-40B4-BE49-F238E27FC236}">
                <a16:creationId xmlns:a16="http://schemas.microsoft.com/office/drawing/2014/main" id="{8B74C8BD-68A6-686B-E5B2-38AC7472C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20" y="1421912"/>
            <a:ext cx="6913366" cy="4061601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36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02FC2F-D774-B636-5477-F9F5AD24E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3509192" cy="2008193"/>
          </a:xfrm>
        </p:spPr>
        <p:txBody>
          <a:bodyPr anchor="t">
            <a:normAutofit/>
          </a:bodyPr>
          <a:lstStyle/>
          <a:p>
            <a:r>
              <a:rPr lang="en-US" sz="3700">
                <a:latin typeface="Rockwell"/>
              </a:rPr>
              <a:t>U.S. vs. Non-U.S. Data Science Salaries</a:t>
            </a:r>
          </a:p>
          <a:p>
            <a:endParaRPr lang="en-US" sz="370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782FC-DB35-0790-9DA2-EDADBB7CD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2" y="3066892"/>
            <a:ext cx="3276598" cy="2856476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900" b="1" dirty="0">
                <a:ea typeface="+mn-lt"/>
                <a:cs typeface="+mn-lt"/>
              </a:rPr>
              <a:t>Key Insights: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b="1" dirty="0">
                <a:ea typeface="+mn-lt"/>
                <a:cs typeface="+mn-lt"/>
              </a:rPr>
              <a:t>U.S. median:</a:t>
            </a:r>
            <a:r>
              <a:rPr lang="en-US" sz="900" dirty="0">
                <a:ea typeface="+mn-lt"/>
                <a:cs typeface="+mn-lt"/>
              </a:rPr>
              <a:t> ≈ </a:t>
            </a:r>
            <a:r>
              <a:rPr lang="en-US" sz="900" b="1" dirty="0">
                <a:ea typeface="+mn-lt"/>
                <a:cs typeface="+mn-lt"/>
              </a:rPr>
              <a:t>$147K</a:t>
            </a:r>
            <a:r>
              <a:rPr lang="en-US" sz="900" dirty="0">
                <a:ea typeface="+mn-lt"/>
                <a:cs typeface="+mn-lt"/>
              </a:rPr>
              <a:t> | </a:t>
            </a:r>
            <a:r>
              <a:rPr lang="en-US" sz="900" b="1" dirty="0">
                <a:ea typeface="+mn-lt"/>
                <a:cs typeface="+mn-lt"/>
              </a:rPr>
              <a:t>Non-U.S. median:</a:t>
            </a:r>
            <a:r>
              <a:rPr lang="en-US" sz="900" dirty="0">
                <a:ea typeface="+mn-lt"/>
                <a:cs typeface="+mn-lt"/>
              </a:rPr>
              <a:t> ≈ </a:t>
            </a:r>
            <a:r>
              <a:rPr lang="en-US" sz="900" b="1" dirty="0">
                <a:ea typeface="+mn-lt"/>
                <a:cs typeface="+mn-lt"/>
              </a:rPr>
              <a:t>$63K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dirty="0">
                <a:ea typeface="+mn-lt"/>
                <a:cs typeface="+mn-lt"/>
              </a:rPr>
              <a:t>U.S. salaries are </a:t>
            </a:r>
            <a:r>
              <a:rPr lang="en-US" sz="900" b="1" dirty="0">
                <a:ea typeface="+mn-lt"/>
                <a:cs typeface="+mn-lt"/>
              </a:rPr>
              <a:t>more than double</a:t>
            </a:r>
            <a:r>
              <a:rPr lang="en-US" sz="900" dirty="0">
                <a:ea typeface="+mn-lt"/>
                <a:cs typeface="+mn-lt"/>
              </a:rPr>
              <a:t> Non-U.S. levels on average.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dirty="0">
                <a:ea typeface="+mn-lt"/>
                <a:cs typeface="+mn-lt"/>
              </a:rPr>
              <a:t>Greater </a:t>
            </a:r>
            <a:r>
              <a:rPr lang="en-US" sz="900" b="1" dirty="0">
                <a:ea typeface="+mn-lt"/>
                <a:cs typeface="+mn-lt"/>
              </a:rPr>
              <a:t>salary variation</a:t>
            </a:r>
            <a:r>
              <a:rPr lang="en-US" sz="900" dirty="0">
                <a:ea typeface="+mn-lt"/>
                <a:cs typeface="+mn-lt"/>
              </a:rPr>
              <a:t> in U.S. roles reflects wider range of seniority and organization size.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dirty="0">
                <a:ea typeface="+mn-lt"/>
                <a:cs typeface="+mn-lt"/>
              </a:rPr>
              <a:t>Non-U.S. salaries cluster lower, with few high-earning exceptions.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b="1" dirty="0">
                <a:ea typeface="+mn-lt"/>
                <a:cs typeface="+mn-lt"/>
              </a:rPr>
              <a:t>Takeaway:</a:t>
            </a:r>
            <a:endParaRPr lang="en-US" sz="900" dirty="0"/>
          </a:p>
          <a:p>
            <a:pPr>
              <a:lnSpc>
                <a:spcPct val="110000"/>
              </a:lnSpc>
            </a:pPr>
            <a:r>
              <a:rPr lang="en-US" sz="900" dirty="0">
                <a:ea typeface="+mn-lt"/>
                <a:cs typeface="+mn-lt"/>
              </a:rPr>
              <a:t>U.S.-based hires demand higher investment (</a:t>
            </a:r>
            <a:r>
              <a:rPr lang="en-US" sz="900" b="1" dirty="0">
                <a:ea typeface="+mn-lt"/>
                <a:cs typeface="+mn-lt"/>
              </a:rPr>
              <a:t>≈ $130K–$170K</a:t>
            </a:r>
            <a:r>
              <a:rPr lang="en-US" sz="900" dirty="0">
                <a:ea typeface="+mn-lt"/>
                <a:cs typeface="+mn-lt"/>
              </a:rPr>
              <a:t>) but provide stronger market alignment, collaboration, and leadership potential for a growing U.S. company.</a:t>
            </a:r>
            <a:endParaRPr lang="en-US" sz="900" dirty="0"/>
          </a:p>
          <a:p>
            <a:pPr>
              <a:lnSpc>
                <a:spcPct val="110000"/>
              </a:lnSpc>
            </a:pPr>
            <a:endParaRPr lang="en-US" sz="900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AFA84DB-3FB2-F3D5-5262-F8FF5B358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20" y="1223153"/>
            <a:ext cx="6913366" cy="4459120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904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6CF28A-7FC2-CAFC-9129-586FD59D9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5567266" cy="1707775"/>
          </a:xfrm>
        </p:spPr>
        <p:txBody>
          <a:bodyPr anchor="t">
            <a:normAutofit/>
          </a:bodyPr>
          <a:lstStyle/>
          <a:p>
            <a:r>
              <a:rPr lang="en-US">
                <a:latin typeface="Rockwell"/>
                <a:ea typeface="Batang"/>
              </a:rPr>
              <a:t>U.S. vs. Non-U.S Small-Company Salaries </a:t>
            </a:r>
            <a:endParaRPr lang="en-US">
              <a:ea typeface="Batang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4C882-EA09-7693-7410-7B43072CA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1" y="2848396"/>
            <a:ext cx="5467441" cy="301833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Key Insights: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U.S. median:</a:t>
            </a:r>
            <a:r>
              <a:rPr lang="en-US" sz="1100" dirty="0">
                <a:ea typeface="+mn-lt"/>
                <a:cs typeface="+mn-lt"/>
              </a:rPr>
              <a:t> ≈ </a:t>
            </a:r>
            <a:r>
              <a:rPr lang="en-US" sz="1100" b="1" dirty="0">
                <a:ea typeface="+mn-lt"/>
                <a:cs typeface="+mn-lt"/>
              </a:rPr>
              <a:t>$102K</a:t>
            </a:r>
            <a:r>
              <a:rPr lang="en-US" sz="1100" dirty="0">
                <a:ea typeface="+mn-lt"/>
                <a:cs typeface="+mn-lt"/>
              </a:rPr>
              <a:t> | </a:t>
            </a:r>
            <a:r>
              <a:rPr lang="en-US" sz="1100" b="1" dirty="0">
                <a:ea typeface="+mn-lt"/>
                <a:cs typeface="+mn-lt"/>
              </a:rPr>
              <a:t>Non-U.S. median:</a:t>
            </a:r>
            <a:r>
              <a:rPr lang="en-US" sz="1100" dirty="0">
                <a:ea typeface="+mn-lt"/>
                <a:cs typeface="+mn-lt"/>
              </a:rPr>
              <a:t> ≈ </a:t>
            </a:r>
            <a:r>
              <a:rPr lang="en-US" sz="1100" b="1" dirty="0">
                <a:ea typeface="+mn-lt"/>
                <a:cs typeface="+mn-lt"/>
              </a:rPr>
              <a:t>$50K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U.S. small-firm salaries are roughly </a:t>
            </a:r>
            <a:r>
              <a:rPr lang="en-US" sz="1100" b="1" dirty="0">
                <a:ea typeface="+mn-lt"/>
                <a:cs typeface="+mn-lt"/>
              </a:rPr>
              <a:t>double</a:t>
            </a:r>
            <a:r>
              <a:rPr lang="en-US" sz="1100" dirty="0">
                <a:ea typeface="+mn-lt"/>
                <a:cs typeface="+mn-lt"/>
              </a:rPr>
              <a:t> Non-U.S. levels.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U.S. range:</a:t>
            </a:r>
            <a:r>
              <a:rPr lang="en-US" sz="1100" dirty="0">
                <a:ea typeface="+mn-lt"/>
                <a:cs typeface="+mn-lt"/>
              </a:rPr>
              <a:t> $90K – $130K (typical) | </a:t>
            </a:r>
            <a:r>
              <a:rPr lang="en-US" sz="1100" b="1" dirty="0">
                <a:ea typeface="+mn-lt"/>
                <a:cs typeface="+mn-lt"/>
              </a:rPr>
              <a:t>Non-U.S.:</a:t>
            </a:r>
            <a:r>
              <a:rPr lang="en-US" sz="1100" dirty="0">
                <a:ea typeface="+mn-lt"/>
                <a:cs typeface="+mn-lt"/>
              </a:rPr>
              <a:t> $50K – $80K (typical)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Non-U.S. firms show wider variability with a few high outliers.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Takeaway: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For a small but growing company, a </a:t>
            </a:r>
            <a:r>
              <a:rPr lang="en-US" sz="1100" b="1" dirty="0">
                <a:ea typeface="+mn-lt"/>
                <a:cs typeface="+mn-lt"/>
              </a:rPr>
              <a:t>U.S. Data Scientist</a:t>
            </a:r>
            <a:r>
              <a:rPr lang="en-US" sz="1100" dirty="0">
                <a:ea typeface="+mn-lt"/>
                <a:cs typeface="+mn-lt"/>
              </a:rPr>
              <a:t> typically earns </a:t>
            </a:r>
            <a:r>
              <a:rPr lang="en-US" sz="1100" b="1" dirty="0">
                <a:ea typeface="+mn-lt"/>
                <a:cs typeface="+mn-lt"/>
              </a:rPr>
              <a:t>$100K – $120K</a:t>
            </a:r>
            <a:r>
              <a:rPr lang="en-US" sz="1100" dirty="0">
                <a:ea typeface="+mn-lt"/>
                <a:cs typeface="+mn-lt"/>
              </a:rPr>
              <a:t>, while comparable offshore roles average </a:t>
            </a:r>
            <a:r>
              <a:rPr lang="en-US" sz="1100" b="1" dirty="0">
                <a:ea typeface="+mn-lt"/>
                <a:cs typeface="+mn-lt"/>
              </a:rPr>
              <a:t>$50K – $80K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n-US" sz="1100" dirty="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U.S. salaries remain the </a:t>
            </a:r>
            <a:r>
              <a:rPr lang="en-US" sz="1100" b="1" dirty="0">
                <a:ea typeface="+mn-lt"/>
                <a:cs typeface="+mn-lt"/>
              </a:rPr>
              <a:t>benchmark</a:t>
            </a:r>
            <a:r>
              <a:rPr lang="en-US" sz="1100" dirty="0">
                <a:ea typeface="+mn-lt"/>
                <a:cs typeface="+mn-lt"/>
              </a:rPr>
              <a:t> for attracting top-tier, full-time data science talent.</a:t>
            </a:r>
            <a:endParaRPr lang="en-US" sz="1100" dirty="0"/>
          </a:p>
          <a:p>
            <a:pPr>
              <a:lnSpc>
                <a:spcPct val="110000"/>
              </a:lnSpc>
            </a:pPr>
            <a:endParaRPr lang="en-US" sz="110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294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salary comparison&#10;&#10;AI-generated content may be incorrect.">
            <a:extLst>
              <a:ext uri="{FF2B5EF4-FFF2-40B4-BE49-F238E27FC236}">
                <a16:creationId xmlns:a16="http://schemas.microsoft.com/office/drawing/2014/main" id="{E78CC591-48CD-0E40-38FA-FD87CF76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4734" y="1898082"/>
            <a:ext cx="4705764" cy="3058746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638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F6F4D8-4F13-960F-F078-3C438A8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86384"/>
            <a:ext cx="3509192" cy="2008193"/>
          </a:xfrm>
        </p:spPr>
        <p:txBody>
          <a:bodyPr anchor="t">
            <a:normAutofit/>
          </a:bodyPr>
          <a:lstStyle/>
          <a:p>
            <a:r>
              <a:rPr lang="en-US" sz="3600" b="1" dirty="0">
                <a:latin typeface="Rockwell"/>
                <a:ea typeface="Batang"/>
              </a:rPr>
              <a:t>Salary by Company Size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F6A20-BFA5-95F5-1954-9C47238DA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836" y="1987392"/>
            <a:ext cx="3488264" cy="366080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Key Insights: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Small firms (S):</a:t>
            </a:r>
            <a:r>
              <a:rPr lang="en-US" sz="1100" dirty="0">
                <a:ea typeface="+mn-lt"/>
                <a:cs typeface="+mn-lt"/>
              </a:rPr>
              <a:t> Median ≈ </a:t>
            </a:r>
            <a:r>
              <a:rPr lang="en-US" sz="1100" b="1" dirty="0">
                <a:ea typeface="+mn-lt"/>
                <a:cs typeface="+mn-lt"/>
              </a:rPr>
              <a:t>$63K</a:t>
            </a:r>
            <a:r>
              <a:rPr lang="en-US" sz="1100" dirty="0">
                <a:ea typeface="+mn-lt"/>
                <a:cs typeface="+mn-lt"/>
              </a:rPr>
              <a:t> — lowest pay, focused on generalist roles.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Medium firms (M):</a:t>
            </a:r>
            <a:r>
              <a:rPr lang="en-US" sz="1100" dirty="0">
                <a:ea typeface="+mn-lt"/>
                <a:cs typeface="+mn-lt"/>
              </a:rPr>
              <a:t> Median ≈ </a:t>
            </a:r>
            <a:r>
              <a:rPr lang="en-US" sz="1100" b="1" dirty="0">
                <a:ea typeface="+mn-lt"/>
                <a:cs typeface="+mn-lt"/>
              </a:rPr>
              <a:t>$138K</a:t>
            </a:r>
            <a:r>
              <a:rPr lang="en-US" sz="1100" dirty="0">
                <a:ea typeface="+mn-lt"/>
                <a:cs typeface="+mn-lt"/>
              </a:rPr>
              <a:t> — sharp rise as firms invest in skilled talent.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Large firms (L):</a:t>
            </a:r>
            <a:r>
              <a:rPr lang="en-US" sz="1100" dirty="0">
                <a:ea typeface="+mn-lt"/>
                <a:cs typeface="+mn-lt"/>
              </a:rPr>
              <a:t> Median ≈ </a:t>
            </a:r>
            <a:r>
              <a:rPr lang="en-US" sz="1100" b="1" dirty="0">
                <a:ea typeface="+mn-lt"/>
                <a:cs typeface="+mn-lt"/>
              </a:rPr>
              <a:t>$111K</a:t>
            </a:r>
            <a:r>
              <a:rPr lang="en-US" sz="1100" dirty="0">
                <a:ea typeface="+mn-lt"/>
                <a:cs typeface="+mn-lt"/>
              </a:rPr>
              <a:t> — broad range due to mix of junior &amp; senior roles.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Pay generally </a:t>
            </a:r>
            <a:r>
              <a:rPr lang="en-US" sz="1100" b="1" dirty="0">
                <a:ea typeface="+mn-lt"/>
                <a:cs typeface="+mn-lt"/>
              </a:rPr>
              <a:t>rises with company size</a:t>
            </a:r>
            <a:r>
              <a:rPr lang="en-US" sz="1100" dirty="0">
                <a:ea typeface="+mn-lt"/>
                <a:cs typeface="+mn-lt"/>
              </a:rPr>
              <a:t>, but variation widens in larger orgs.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Takeaway: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For a small but growing company, offering </a:t>
            </a:r>
            <a:r>
              <a:rPr lang="en-US" sz="1100" b="1" dirty="0">
                <a:ea typeface="+mn-lt"/>
                <a:cs typeface="+mn-lt"/>
              </a:rPr>
              <a:t>$100K–$130K</a:t>
            </a:r>
            <a:r>
              <a:rPr lang="en-US" sz="1100" dirty="0">
                <a:ea typeface="+mn-lt"/>
                <a:cs typeface="+mn-lt"/>
              </a:rPr>
              <a:t> is competitive — bridging small-company cost efficiency with mid-company talent quality.</a:t>
            </a:r>
            <a:endParaRPr lang="en-US" sz="1100" dirty="0"/>
          </a:p>
          <a:p>
            <a:pPr>
              <a:lnSpc>
                <a:spcPct val="110000"/>
              </a:lnSpc>
            </a:pPr>
            <a:endParaRPr lang="en-US" sz="9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hart with blue and black squares&#10;&#10;AI-generated content may be incorrect.">
            <a:extLst>
              <a:ext uri="{FF2B5EF4-FFF2-40B4-BE49-F238E27FC236}">
                <a16:creationId xmlns:a16="http://schemas.microsoft.com/office/drawing/2014/main" id="{3FE8F3EE-D973-8CDC-D790-3602BF0AE5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6" r="3883" b="2"/>
          <a:stretch>
            <a:fillRect/>
          </a:stretch>
        </p:blipFill>
        <p:spPr>
          <a:xfrm>
            <a:off x="4699208" y="849338"/>
            <a:ext cx="6921292" cy="515803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17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E79C6-8975-E0DF-E2E8-04D688F29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91" y="786384"/>
            <a:ext cx="3371609" cy="822860"/>
          </a:xfrm>
        </p:spPr>
        <p:txBody>
          <a:bodyPr anchor="t">
            <a:normAutofit/>
          </a:bodyPr>
          <a:lstStyle/>
          <a:p>
            <a:r>
              <a:rPr lang="en-US" sz="2800" b="1" dirty="0">
                <a:latin typeface="Rockwell"/>
                <a:ea typeface="Batang"/>
              </a:rPr>
              <a:t>Salary by Job Title</a:t>
            </a:r>
            <a:endParaRPr lang="en-US" sz="2800" dirty="0">
              <a:latin typeface="Rockwell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BB6C8-21B3-D4F0-C33D-DC5C4148C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1" y="1564060"/>
            <a:ext cx="2969682" cy="4062975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Key Insights: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Top leadership roles</a:t>
            </a:r>
            <a:r>
              <a:rPr lang="en-US" sz="1050" dirty="0">
                <a:ea typeface="+mn-lt"/>
                <a:cs typeface="+mn-lt"/>
              </a:rPr>
              <a:t> (Principal &amp; Director of Data Science): </a:t>
            </a:r>
            <a:r>
              <a:rPr lang="en-US" sz="1050" b="1" dirty="0">
                <a:ea typeface="+mn-lt"/>
                <a:cs typeface="+mn-lt"/>
              </a:rPr>
              <a:t>$150K–$160K</a:t>
            </a:r>
            <a:r>
              <a:rPr lang="en-US" sz="1050" dirty="0">
                <a:ea typeface="+mn-lt"/>
                <a:cs typeface="+mn-lt"/>
              </a:rPr>
              <a:t> median.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Mid–senior roles</a:t>
            </a:r>
            <a:r>
              <a:rPr lang="en-US" sz="1050" dirty="0">
                <a:ea typeface="+mn-lt"/>
                <a:cs typeface="+mn-lt"/>
              </a:rPr>
              <a:t> (Manager, Head, Lead): </a:t>
            </a:r>
            <a:r>
              <a:rPr lang="en-US" sz="1050" b="1" dirty="0">
                <a:ea typeface="+mn-lt"/>
                <a:cs typeface="+mn-lt"/>
              </a:rPr>
              <a:t>$120K–$140K</a:t>
            </a:r>
            <a:r>
              <a:rPr lang="en-US" sz="1050" dirty="0">
                <a:ea typeface="+mn-lt"/>
                <a:cs typeface="+mn-lt"/>
              </a:rPr>
              <a:t> range.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Data Scientist:</a:t>
            </a:r>
            <a:r>
              <a:rPr lang="en-US" sz="1050" dirty="0">
                <a:ea typeface="+mn-lt"/>
                <a:cs typeface="+mn-lt"/>
              </a:rPr>
              <a:t> ~</a:t>
            </a:r>
            <a:r>
              <a:rPr lang="en-US" sz="1050" b="1" dirty="0">
                <a:ea typeface="+mn-lt"/>
                <a:cs typeface="+mn-lt"/>
              </a:rPr>
              <a:t>$110K median</a:t>
            </a:r>
            <a:r>
              <a:rPr lang="en-US" sz="1050" dirty="0">
                <a:ea typeface="+mn-lt"/>
                <a:cs typeface="+mn-lt"/>
              </a:rPr>
              <a:t> — balanced between skill depth and affordability.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Research &amp; Applied roles</a:t>
            </a:r>
            <a:r>
              <a:rPr lang="en-US" sz="1050" dirty="0">
                <a:ea typeface="+mn-lt"/>
                <a:cs typeface="+mn-lt"/>
              </a:rPr>
              <a:t> trend lower (~$70K–$90K), reflecting narrower specialization.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b="1" dirty="0">
                <a:ea typeface="+mn-lt"/>
                <a:cs typeface="+mn-lt"/>
              </a:rPr>
              <a:t>Takeaway:</a:t>
            </a:r>
            <a:endParaRPr lang="en-US" sz="1050"/>
          </a:p>
          <a:p>
            <a:pPr>
              <a:lnSpc>
                <a:spcPct val="110000"/>
              </a:lnSpc>
            </a:pPr>
            <a:r>
              <a:rPr lang="en-US" sz="1050" dirty="0">
                <a:ea typeface="+mn-lt"/>
                <a:cs typeface="+mn-lt"/>
              </a:rPr>
              <a:t>A </a:t>
            </a:r>
            <a:r>
              <a:rPr lang="en-US" sz="1050" b="1" dirty="0">
                <a:ea typeface="+mn-lt"/>
                <a:cs typeface="+mn-lt"/>
              </a:rPr>
              <a:t>Data Scientist salary of $110K–$130K</a:t>
            </a:r>
            <a:r>
              <a:rPr lang="en-US" sz="1050" dirty="0">
                <a:ea typeface="+mn-lt"/>
                <a:cs typeface="+mn-lt"/>
              </a:rPr>
              <a:t> is both competitive and sustainable, positioning the company to attract strong technical talent while maintaining fiscal balance.</a:t>
            </a:r>
            <a:endParaRPr lang="en-US" sz="1050" dirty="0"/>
          </a:p>
          <a:p>
            <a:pPr>
              <a:lnSpc>
                <a:spcPct val="110000"/>
              </a:lnSpc>
            </a:pPr>
            <a:endParaRPr lang="en-US" sz="70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graph of a number of blue and white bars&#10;&#10;AI-generated content may be incorrect.">
            <a:extLst>
              <a:ext uri="{FF2B5EF4-FFF2-40B4-BE49-F238E27FC236}">
                <a16:creationId xmlns:a16="http://schemas.microsoft.com/office/drawing/2014/main" id="{ADC4E93F-905A-3633-FB7A-13052CD8B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20" y="1283644"/>
            <a:ext cx="6913366" cy="4338137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972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8CB63-1772-C26B-1247-4A497B32C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24" y="786384"/>
            <a:ext cx="3456276" cy="1225027"/>
          </a:xfrm>
        </p:spPr>
        <p:txBody>
          <a:bodyPr anchor="t">
            <a:normAutofit fontScale="90000"/>
          </a:bodyPr>
          <a:lstStyle/>
          <a:p>
            <a:r>
              <a:rPr lang="en-US" sz="3200" b="1" dirty="0">
                <a:latin typeface="Rockwell"/>
                <a:ea typeface="Batang"/>
              </a:rPr>
              <a:t>Salary by Remote Work Category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5B7BB-EA68-86CA-AA45-E77670BD3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19" y="1712226"/>
            <a:ext cx="3414181" cy="3830142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Key Insights: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Fully Remote:</a:t>
            </a:r>
            <a:r>
              <a:rPr lang="en-US" sz="1100" dirty="0">
                <a:ea typeface="+mn-lt"/>
                <a:cs typeface="+mn-lt"/>
              </a:rPr>
              <a:t> Highest median (~</a:t>
            </a:r>
            <a:r>
              <a:rPr lang="en-US" sz="1100" b="1" dirty="0">
                <a:ea typeface="+mn-lt"/>
                <a:cs typeface="+mn-lt"/>
              </a:rPr>
              <a:t>$140K</a:t>
            </a:r>
            <a:r>
              <a:rPr lang="en-US" sz="1100" dirty="0">
                <a:ea typeface="+mn-lt"/>
                <a:cs typeface="+mn-lt"/>
              </a:rPr>
              <a:t>), driven by U.S.-based remote professionals.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On-site:</a:t>
            </a:r>
            <a:r>
              <a:rPr lang="en-US" sz="1100" dirty="0">
                <a:ea typeface="+mn-lt"/>
                <a:cs typeface="+mn-lt"/>
              </a:rPr>
              <a:t> Median around </a:t>
            </a:r>
            <a:r>
              <a:rPr lang="en-US" sz="1100" b="1" dirty="0">
                <a:ea typeface="+mn-lt"/>
                <a:cs typeface="+mn-lt"/>
              </a:rPr>
              <a:t>$107K</a:t>
            </a:r>
            <a:r>
              <a:rPr lang="en-US" sz="1100" dirty="0">
                <a:ea typeface="+mn-lt"/>
                <a:cs typeface="+mn-lt"/>
              </a:rPr>
              <a:t>, with wide variation due to executive roles.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Hybrid:</a:t>
            </a:r>
            <a:r>
              <a:rPr lang="en-US" sz="1100" dirty="0">
                <a:ea typeface="+mn-lt"/>
                <a:cs typeface="+mn-lt"/>
              </a:rPr>
              <a:t> Lowest median (~</a:t>
            </a:r>
            <a:r>
              <a:rPr lang="en-US" sz="1100" b="1" dirty="0">
                <a:ea typeface="+mn-lt"/>
                <a:cs typeface="+mn-lt"/>
              </a:rPr>
              <a:t>$67K–$90K</a:t>
            </a:r>
            <a:r>
              <a:rPr lang="en-US" sz="1100" dirty="0">
                <a:ea typeface="+mn-lt"/>
                <a:cs typeface="+mn-lt"/>
              </a:rPr>
              <a:t>), reflecting more cost-optimized positions.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Salary differences suggest location and company policy influence pay more than flexibility alone.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b="1" dirty="0">
                <a:ea typeface="+mn-lt"/>
                <a:cs typeface="+mn-lt"/>
              </a:rPr>
              <a:t>Takeaway:</a:t>
            </a:r>
            <a:endParaRPr lang="en-US" sz="1100"/>
          </a:p>
          <a:p>
            <a:pPr>
              <a:lnSpc>
                <a:spcPct val="110000"/>
              </a:lnSpc>
            </a:pPr>
            <a:r>
              <a:rPr lang="en-US" sz="1100" dirty="0">
                <a:ea typeface="+mn-lt"/>
                <a:cs typeface="+mn-lt"/>
              </a:rPr>
              <a:t>A </a:t>
            </a:r>
            <a:r>
              <a:rPr lang="en-US" sz="1100" b="1" dirty="0">
                <a:ea typeface="+mn-lt"/>
                <a:cs typeface="+mn-lt"/>
              </a:rPr>
              <a:t>U.S.-based remote or hybrid model</a:t>
            </a:r>
            <a:r>
              <a:rPr lang="en-US" sz="1100" dirty="0">
                <a:ea typeface="+mn-lt"/>
                <a:cs typeface="+mn-lt"/>
              </a:rPr>
              <a:t> offers the best balance of cost, flexibility, and access to high-performing data science tal</a:t>
            </a:r>
            <a:r>
              <a:rPr lang="en-US" sz="1050" dirty="0">
                <a:ea typeface="+mn-lt"/>
                <a:cs typeface="+mn-lt"/>
              </a:rPr>
              <a:t>ent.</a:t>
            </a:r>
            <a:endParaRPr lang="en-US" sz="1050"/>
          </a:p>
          <a:p>
            <a:pPr>
              <a:lnSpc>
                <a:spcPct val="110000"/>
              </a:lnSpc>
            </a:pPr>
            <a:endParaRPr lang="en-US" sz="9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EBBDF28-EEC4-44D4-F61A-ED8B32E11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20" y="1283644"/>
            <a:ext cx="6913366" cy="4338137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4830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EBAF395E-7D52-496C-ACDD-468AEC1AD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596D7-2E52-50A7-353D-0B88F3A2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125" y="786384"/>
            <a:ext cx="3837275" cy="928693"/>
          </a:xfrm>
        </p:spPr>
        <p:txBody>
          <a:bodyPr anchor="t">
            <a:normAutofit fontScale="90000"/>
          </a:bodyPr>
          <a:lstStyle/>
          <a:p>
            <a:r>
              <a:rPr lang="en-US" sz="3200" b="1" dirty="0">
                <a:latin typeface="Rockwell"/>
                <a:ea typeface="Batang"/>
              </a:rPr>
              <a:t>Experience Level × Remote Work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6BAADB1-054E-4A82-8D07-643BD1F43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8602" y="576201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B9B6-A8F2-4728-8EF4-36B25D638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585" y="2188476"/>
            <a:ext cx="3033183" cy="4359309"/>
          </a:xfrm>
        </p:spPr>
        <p:txBody>
          <a:bodyPr vert="horz" lIns="91440" tIns="45720" rIns="91440" bIns="45720" rtlCol="0" anchor="b">
            <a:noAutofit/>
          </a:bodyPr>
          <a:lstStyle/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latin typeface="Rockwell"/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endParaRPr lang="en-US" sz="800" b="1" dirty="0">
              <a:ea typeface="+mn-lt"/>
              <a:cs typeface="+mn-lt"/>
            </a:endParaRPr>
          </a:p>
          <a:p>
            <a:r>
              <a:rPr lang="en-US" sz="800" b="1" dirty="0">
                <a:ea typeface="+mn-lt"/>
                <a:cs typeface="+mn-lt"/>
              </a:rPr>
              <a:t>Key Insights:</a:t>
            </a:r>
            <a:endParaRPr lang="en-US" sz="800" dirty="0">
              <a:ea typeface="+mn-lt"/>
              <a:cs typeface="+mn-lt"/>
            </a:endParaRPr>
          </a:p>
          <a:p>
            <a:r>
              <a:rPr lang="en-US" sz="800" dirty="0">
                <a:ea typeface="+mn-lt"/>
                <a:cs typeface="+mn-lt"/>
              </a:rPr>
              <a:t>Salaries </a:t>
            </a:r>
            <a:r>
              <a:rPr lang="en-US" sz="800" b="1" dirty="0">
                <a:ea typeface="+mn-lt"/>
                <a:cs typeface="+mn-lt"/>
              </a:rPr>
              <a:t>increase predictably with experience</a:t>
            </a:r>
            <a:r>
              <a:rPr lang="en-US" sz="800" dirty="0">
                <a:ea typeface="+mn-lt"/>
                <a:cs typeface="+mn-lt"/>
              </a:rPr>
              <a:t>, across all work arrangements.</a:t>
            </a:r>
          </a:p>
          <a:p>
            <a:r>
              <a:rPr lang="en-US" sz="800" b="1" dirty="0">
                <a:ea typeface="+mn-lt"/>
                <a:cs typeface="+mn-lt"/>
              </a:rPr>
              <a:t>Fully Remote</a:t>
            </a:r>
            <a:r>
              <a:rPr lang="en-US" sz="800" dirty="0">
                <a:ea typeface="+mn-lt"/>
                <a:cs typeface="+mn-lt"/>
              </a:rPr>
              <a:t> roles often earn </a:t>
            </a:r>
            <a:r>
              <a:rPr lang="en-US" sz="800" b="1" dirty="0">
                <a:ea typeface="+mn-lt"/>
                <a:cs typeface="+mn-lt"/>
              </a:rPr>
              <a:t>equal or higher pay</a:t>
            </a:r>
            <a:r>
              <a:rPr lang="en-US" sz="800" dirty="0">
                <a:ea typeface="+mn-lt"/>
                <a:cs typeface="+mn-lt"/>
              </a:rPr>
              <a:t> than on-site, particularly at </a:t>
            </a:r>
            <a:r>
              <a:rPr lang="en-US" sz="800" b="1" dirty="0">
                <a:ea typeface="+mn-lt"/>
                <a:cs typeface="+mn-lt"/>
              </a:rPr>
              <a:t>senior (SE)</a:t>
            </a:r>
            <a:r>
              <a:rPr lang="en-US" sz="800" dirty="0">
                <a:ea typeface="+mn-lt"/>
                <a:cs typeface="+mn-lt"/>
              </a:rPr>
              <a:t> and </a:t>
            </a:r>
            <a:r>
              <a:rPr lang="en-US" sz="800" b="1" dirty="0">
                <a:ea typeface="+mn-lt"/>
                <a:cs typeface="+mn-lt"/>
              </a:rPr>
              <a:t>executive (EX)</a:t>
            </a:r>
            <a:r>
              <a:rPr lang="en-US" sz="800" dirty="0">
                <a:ea typeface="+mn-lt"/>
                <a:cs typeface="+mn-lt"/>
              </a:rPr>
              <a:t> levels.</a:t>
            </a:r>
            <a:endParaRPr lang="en-US" sz="800" dirty="0"/>
          </a:p>
          <a:p>
            <a:r>
              <a:rPr lang="en-US" sz="800" b="1" dirty="0">
                <a:ea typeface="+mn-lt"/>
                <a:cs typeface="+mn-lt"/>
              </a:rPr>
              <a:t>Entry-level:</a:t>
            </a:r>
            <a:r>
              <a:rPr lang="en-US" sz="800" dirty="0">
                <a:ea typeface="+mn-lt"/>
                <a:cs typeface="+mn-lt"/>
              </a:rPr>
              <a:t> Remote ≈ </a:t>
            </a:r>
            <a:r>
              <a:rPr lang="en-US" sz="800" b="1" dirty="0">
                <a:ea typeface="+mn-lt"/>
                <a:cs typeface="+mn-lt"/>
              </a:rPr>
              <a:t>$75K–$80K</a:t>
            </a:r>
            <a:r>
              <a:rPr lang="en-US" sz="800" dirty="0">
                <a:ea typeface="+mn-lt"/>
                <a:cs typeface="+mn-lt"/>
              </a:rPr>
              <a:t> | Hybrid ≈ </a:t>
            </a:r>
            <a:r>
              <a:rPr lang="en-US" sz="800" b="1" dirty="0">
                <a:ea typeface="+mn-lt"/>
                <a:cs typeface="+mn-lt"/>
              </a:rPr>
              <a:t>$50K</a:t>
            </a:r>
          </a:p>
          <a:p>
            <a:r>
              <a:rPr lang="en-US" sz="800" b="1" dirty="0">
                <a:ea typeface="+mn-lt"/>
                <a:cs typeface="+mn-lt"/>
              </a:rPr>
              <a:t>Mid-level:</a:t>
            </a:r>
            <a:r>
              <a:rPr lang="en-US" sz="800" dirty="0">
                <a:ea typeface="+mn-lt"/>
                <a:cs typeface="+mn-lt"/>
              </a:rPr>
              <a:t> Median around </a:t>
            </a:r>
            <a:r>
              <a:rPr lang="en-US" sz="800" b="1" dirty="0">
                <a:ea typeface="+mn-lt"/>
                <a:cs typeface="+mn-lt"/>
              </a:rPr>
              <a:t>$90K–$100K</a:t>
            </a:r>
          </a:p>
          <a:p>
            <a:r>
              <a:rPr lang="en-US" sz="800" b="1" dirty="0">
                <a:ea typeface="+mn-lt"/>
                <a:cs typeface="+mn-lt"/>
              </a:rPr>
              <a:t>Senior-level:</a:t>
            </a:r>
            <a:r>
              <a:rPr lang="en-US" sz="800" dirty="0">
                <a:ea typeface="+mn-lt"/>
                <a:cs typeface="+mn-lt"/>
              </a:rPr>
              <a:t> Fully remote ≈ </a:t>
            </a:r>
            <a:r>
              <a:rPr lang="en-US" sz="800" b="1" dirty="0">
                <a:ea typeface="+mn-lt"/>
                <a:cs typeface="+mn-lt"/>
              </a:rPr>
              <a:t>$160K median</a:t>
            </a:r>
            <a:r>
              <a:rPr lang="en-US" sz="800" dirty="0">
                <a:ea typeface="+mn-lt"/>
                <a:cs typeface="+mn-lt"/>
              </a:rPr>
              <a:t>, showing employers reward experienced remote professionals.</a:t>
            </a:r>
          </a:p>
          <a:p>
            <a:r>
              <a:rPr lang="en-US" sz="800" b="1" dirty="0">
                <a:ea typeface="+mn-lt"/>
                <a:cs typeface="+mn-lt"/>
              </a:rPr>
              <a:t>Executive-level:</a:t>
            </a:r>
            <a:r>
              <a:rPr lang="en-US" sz="800" dirty="0">
                <a:ea typeface="+mn-lt"/>
                <a:cs typeface="+mn-lt"/>
              </a:rPr>
              <a:t> Consistent pay across arrangements (</a:t>
            </a:r>
            <a:r>
              <a:rPr lang="en-US" sz="800" b="1" dirty="0">
                <a:ea typeface="+mn-lt"/>
                <a:cs typeface="+mn-lt"/>
              </a:rPr>
              <a:t>$140K–$170K</a:t>
            </a:r>
            <a:r>
              <a:rPr lang="en-US" sz="800" dirty="0">
                <a:ea typeface="+mn-lt"/>
                <a:cs typeface="+mn-lt"/>
              </a:rPr>
              <a:t> range).</a:t>
            </a:r>
          </a:p>
          <a:p>
            <a:r>
              <a:rPr lang="en-US" sz="800" b="1" dirty="0">
                <a:ea typeface="+mn-lt"/>
                <a:cs typeface="+mn-lt"/>
              </a:rPr>
              <a:t>Takeaway:</a:t>
            </a:r>
            <a:endParaRPr lang="en-US" sz="800" dirty="0">
              <a:ea typeface="+mn-lt"/>
              <a:cs typeface="+mn-lt"/>
            </a:endParaRPr>
          </a:p>
          <a:p>
            <a:r>
              <a:rPr lang="en-US" sz="800" dirty="0">
                <a:ea typeface="+mn-lt"/>
                <a:cs typeface="+mn-lt"/>
              </a:rPr>
              <a:t>Salary growth strongly tracks experience. At senior levels, </a:t>
            </a:r>
            <a:r>
              <a:rPr lang="en-US" sz="800" b="1" dirty="0">
                <a:ea typeface="+mn-lt"/>
                <a:cs typeface="+mn-lt"/>
              </a:rPr>
              <a:t>remote flexibility no longer reduces earning potential</a:t>
            </a:r>
            <a:r>
              <a:rPr lang="en-US" sz="800" dirty="0">
                <a:ea typeface="+mn-lt"/>
                <a:cs typeface="+mn-lt"/>
              </a:rPr>
              <a:t> — it may even enhance it.</a:t>
            </a:r>
          </a:p>
          <a:p>
            <a:r>
              <a:rPr lang="en-US" sz="800" dirty="0">
                <a:ea typeface="+mn-lt"/>
                <a:cs typeface="+mn-lt"/>
              </a:rPr>
              <a:t>A </a:t>
            </a:r>
            <a:r>
              <a:rPr lang="en-US" sz="800" b="1" dirty="0">
                <a:ea typeface="+mn-lt"/>
                <a:cs typeface="+mn-lt"/>
              </a:rPr>
              <a:t>senior fully remote or hybrid U.S.-based hire (~$140K–$160K)</a:t>
            </a:r>
            <a:r>
              <a:rPr lang="en-US" sz="800" dirty="0">
                <a:ea typeface="+mn-lt"/>
                <a:cs typeface="+mn-lt"/>
              </a:rPr>
              <a:t> represents the ideal blend of </a:t>
            </a:r>
            <a:r>
              <a:rPr lang="en-US" sz="800" b="1" dirty="0">
                <a:ea typeface="+mn-lt"/>
                <a:cs typeface="+mn-lt"/>
              </a:rPr>
              <a:t>expertise, flexibility, and value</a:t>
            </a:r>
            <a:r>
              <a:rPr lang="en-US" sz="800" dirty="0">
                <a:ea typeface="+mn-lt"/>
                <a:cs typeface="+mn-lt"/>
              </a:rPr>
              <a:t> for the company’s next data science leader.</a:t>
            </a:r>
            <a:br>
              <a:rPr lang="en-US" sz="800" dirty="0">
                <a:ea typeface="+mn-lt"/>
                <a:cs typeface="+mn-lt"/>
              </a:rPr>
            </a:br>
            <a:endParaRPr lang="en-US" sz="800" dirty="0"/>
          </a:p>
          <a:p>
            <a:pPr>
              <a:lnSpc>
                <a:spcPct val="110000"/>
              </a:lnSpc>
            </a:pPr>
            <a:endParaRPr lang="en-US" sz="900" dirty="0"/>
          </a:p>
          <a:p>
            <a:pPr>
              <a:lnSpc>
                <a:spcPct val="110000"/>
              </a:lnSpc>
            </a:pPr>
            <a:endParaRPr lang="en-US" sz="70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3121654-FB13-441C-AB60-76710D9170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19600" y="588336"/>
            <a:ext cx="0" cy="56981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AB9415DD-25C3-CD4D-EC3D-A25EB204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120" y="1430554"/>
            <a:ext cx="6913366" cy="4044318"/>
          </a:xfrm>
          <a:prstGeom prst="rect">
            <a:avLst/>
          </a:prstGeom>
        </p:spPr>
      </p:pic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58D2D3E-B980-4D6F-BBFB-DF7A3A947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0" y="6286500"/>
            <a:ext cx="110547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382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5889F449-A8C1-4223-8D3F-453A7C930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BEF9F-5D00-3971-36E6-0889A25C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818777"/>
            <a:ext cx="2632002" cy="5099442"/>
          </a:xfrm>
        </p:spPr>
        <p:txBody>
          <a:bodyPr anchor="t">
            <a:normAutofit/>
          </a:bodyPr>
          <a:lstStyle/>
          <a:p>
            <a:r>
              <a:rPr lang="en-US" sz="2200" b="1">
                <a:latin typeface="Rockwell"/>
                <a:ea typeface="Batang"/>
              </a:rPr>
              <a:t>Final Recommendation to the CEO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B483DE6-F425-4CA0-9983-0778A131F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571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8F3C27F-5DD1-4734-BC17-6CA4460264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1501" y="6286500"/>
            <a:ext cx="11048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1F67967-936C-4D11-B434-DEBD15F2B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14700" y="571500"/>
            <a:ext cx="0" cy="5715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C9408-3FB0-EC96-2A5D-5B13DC8CA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1570" y="939782"/>
            <a:ext cx="7724000" cy="503481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Summary of Key Insights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U.S. vs. Non-U.S. Pay Gap: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U.S. median ≈ $147K</a:t>
            </a:r>
            <a:r>
              <a:rPr lang="en-US" sz="800" dirty="0">
                <a:ea typeface="+mn-lt"/>
                <a:cs typeface="+mn-lt"/>
              </a:rPr>
              <a:t> vs. Non-U.S. ≈ </a:t>
            </a:r>
            <a:r>
              <a:rPr lang="en-US" sz="800" b="1" dirty="0">
                <a:ea typeface="+mn-lt"/>
                <a:cs typeface="+mn-lt"/>
              </a:rPr>
              <a:t>$63K</a:t>
            </a:r>
            <a:r>
              <a:rPr lang="en-US" sz="800" dirty="0">
                <a:ea typeface="+mn-lt"/>
                <a:cs typeface="+mn-lt"/>
              </a:rPr>
              <a:t>, reflecting market competitiveness and cost-of-living differences.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Experience: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Salaries rise steadily with experience — from $65K (Entry)</a:t>
            </a:r>
            <a:r>
              <a:rPr lang="en-US" sz="800" dirty="0">
                <a:ea typeface="+mn-lt"/>
                <a:cs typeface="+mn-lt"/>
              </a:rPr>
              <a:t> to </a:t>
            </a:r>
            <a:r>
              <a:rPr lang="en-US" sz="800" b="1" dirty="0">
                <a:ea typeface="+mn-lt"/>
                <a:cs typeface="+mn-lt"/>
              </a:rPr>
              <a:t>$180K+ (Executive)</a:t>
            </a:r>
            <a:r>
              <a:rPr lang="en-US" sz="800" dirty="0">
                <a:ea typeface="+mn-lt"/>
                <a:cs typeface="+mn-lt"/>
              </a:rPr>
              <a:t>.</a:t>
            </a:r>
            <a:br>
              <a:rPr lang="en-US" sz="800" dirty="0">
                <a:ea typeface="+mn-lt"/>
                <a:cs typeface="+mn-lt"/>
              </a:rPr>
            </a:br>
            <a:r>
              <a:rPr lang="en-US" sz="800" dirty="0">
                <a:ea typeface="+mn-lt"/>
                <a:cs typeface="+mn-lt"/>
              </a:rPr>
              <a:t> The steepest jump occurs between </a:t>
            </a:r>
            <a:r>
              <a:rPr lang="en-US" sz="800" b="1" dirty="0">
                <a:ea typeface="+mn-lt"/>
                <a:cs typeface="+mn-lt"/>
              </a:rPr>
              <a:t>Mid-level</a:t>
            </a:r>
            <a:r>
              <a:rPr lang="en-US" sz="800" dirty="0">
                <a:ea typeface="+mn-lt"/>
                <a:cs typeface="+mn-lt"/>
              </a:rPr>
              <a:t> and </a:t>
            </a:r>
            <a:r>
              <a:rPr lang="en-US" sz="800" b="1" dirty="0">
                <a:ea typeface="+mn-lt"/>
                <a:cs typeface="+mn-lt"/>
              </a:rPr>
              <a:t>Senior-level</a:t>
            </a:r>
            <a:r>
              <a:rPr lang="en-US" sz="800" dirty="0">
                <a:ea typeface="+mn-lt"/>
                <a:cs typeface="+mn-lt"/>
              </a:rPr>
              <a:t> roles.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Company Size: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Small firms average ~$72K</a:t>
            </a:r>
            <a:r>
              <a:rPr lang="en-US" sz="800" dirty="0">
                <a:ea typeface="+mn-lt"/>
                <a:cs typeface="+mn-lt"/>
              </a:rPr>
              <a:t>, while medium and large firms exceed </a:t>
            </a:r>
            <a:r>
              <a:rPr lang="en-US" sz="800" b="1" dirty="0">
                <a:ea typeface="+mn-lt"/>
                <a:cs typeface="+mn-lt"/>
              </a:rPr>
              <a:t>$120K</a:t>
            </a:r>
            <a:r>
              <a:rPr lang="en-US" sz="800" dirty="0">
                <a:ea typeface="+mn-lt"/>
                <a:cs typeface="+mn-lt"/>
              </a:rPr>
              <a:t>, showing that scaling organizations pay more for expertise.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Remote Flexibility: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Fully remote senior roles command equal or higher pay</a:t>
            </a:r>
            <a:r>
              <a:rPr lang="en-US" sz="800" dirty="0">
                <a:ea typeface="+mn-lt"/>
                <a:cs typeface="+mn-lt"/>
              </a:rPr>
              <a:t> than on-site, confirming remote work is now mainstream — not a discount factor.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Recommended Salary Range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U.S.-based hire:</a:t>
            </a:r>
            <a:r>
              <a:rPr lang="en-US" sz="800" dirty="0">
                <a:ea typeface="+mn-lt"/>
                <a:cs typeface="+mn-lt"/>
              </a:rPr>
              <a:t> </a:t>
            </a:r>
            <a:r>
              <a:rPr lang="en-US" sz="800" b="1" dirty="0">
                <a:ea typeface="+mn-lt"/>
                <a:cs typeface="+mn-lt"/>
              </a:rPr>
              <a:t>$120K–$160K USD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→ Competitive with senior-level market medians; supports long-term retention and leadership potential.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Offshore / Remote hire:</a:t>
            </a:r>
            <a:r>
              <a:rPr lang="en-US" sz="800" dirty="0">
                <a:ea typeface="+mn-lt"/>
                <a:cs typeface="+mn-lt"/>
              </a:rPr>
              <a:t> </a:t>
            </a:r>
            <a:r>
              <a:rPr lang="en-US" sz="800" b="1" dirty="0">
                <a:ea typeface="+mn-lt"/>
                <a:cs typeface="+mn-lt"/>
              </a:rPr>
              <a:t>$70K–$100K USD</a:t>
            </a:r>
            <a:br>
              <a:rPr lang="en-US" sz="800" b="1" dirty="0">
                <a:ea typeface="+mn-lt"/>
                <a:cs typeface="+mn-lt"/>
              </a:rPr>
            </a:br>
            <a:r>
              <a:rPr lang="en-US" sz="800" b="1" dirty="0">
                <a:ea typeface="+mn-lt"/>
                <a:cs typeface="+mn-lt"/>
              </a:rPr>
              <a:t> → Aligns with international benchmarks while maintaining cost efficiency.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Strategic Rationale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ea typeface="+mn-lt"/>
                <a:cs typeface="+mn-lt"/>
              </a:rPr>
              <a:t>Positions the company in the </a:t>
            </a:r>
            <a:r>
              <a:rPr lang="en-US" sz="800" b="1" dirty="0">
                <a:ea typeface="+mn-lt"/>
                <a:cs typeface="+mn-lt"/>
              </a:rPr>
              <a:t>upper-middle market</a:t>
            </a:r>
            <a:r>
              <a:rPr lang="en-US" sz="800" dirty="0">
                <a:ea typeface="+mn-lt"/>
                <a:cs typeface="+mn-lt"/>
              </a:rPr>
              <a:t> — signaling commitment to strong data capabilities.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ea typeface="+mn-lt"/>
                <a:cs typeface="+mn-lt"/>
              </a:rPr>
              <a:t>Expands the </a:t>
            </a:r>
            <a:r>
              <a:rPr lang="en-US" sz="800" b="1" dirty="0">
                <a:ea typeface="+mn-lt"/>
                <a:cs typeface="+mn-lt"/>
              </a:rPr>
              <a:t>talent pool</a:t>
            </a:r>
            <a:r>
              <a:rPr lang="en-US" sz="800" dirty="0">
                <a:ea typeface="+mn-lt"/>
                <a:cs typeface="+mn-lt"/>
              </a:rPr>
              <a:t> through remote flexibility without undercutting pay equity.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ea typeface="+mn-lt"/>
                <a:cs typeface="+mn-lt"/>
              </a:rPr>
              <a:t>Allows room to </a:t>
            </a:r>
            <a:r>
              <a:rPr lang="en-US" sz="800" b="1" dirty="0">
                <a:ea typeface="+mn-lt"/>
                <a:cs typeface="+mn-lt"/>
              </a:rPr>
              <a:t>scale pay with experience</a:t>
            </a:r>
            <a:r>
              <a:rPr lang="en-US" sz="800" dirty="0">
                <a:ea typeface="+mn-lt"/>
                <a:cs typeface="+mn-lt"/>
              </a:rPr>
              <a:t>, ensuring sustainable growth as the team matures.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b="1" dirty="0">
                <a:ea typeface="+mn-lt"/>
                <a:cs typeface="+mn-lt"/>
              </a:rPr>
              <a:t>Final Conclusion</a:t>
            </a:r>
            <a:endParaRPr lang="en-US" sz="800" dirty="0"/>
          </a:p>
          <a:p>
            <a:pPr>
              <a:lnSpc>
                <a:spcPct val="110000"/>
              </a:lnSpc>
            </a:pPr>
            <a:r>
              <a:rPr lang="en-US" sz="800" dirty="0">
                <a:ea typeface="+mn-lt"/>
                <a:cs typeface="+mn-lt"/>
              </a:rPr>
              <a:t>To attract and retain top-tier talent capable of leading data-driven transformation, target a base salary of </a:t>
            </a:r>
            <a:r>
              <a:rPr lang="en-US" sz="800" b="1" dirty="0">
                <a:ea typeface="+mn-lt"/>
                <a:cs typeface="+mn-lt"/>
              </a:rPr>
              <a:t>~$140K for a U.S.-based Data Scientist</a:t>
            </a:r>
            <a:r>
              <a:rPr lang="en-US" sz="800" dirty="0">
                <a:ea typeface="+mn-lt"/>
                <a:cs typeface="+mn-lt"/>
              </a:rPr>
              <a:t>, with proportional adjustments for remote or offshore roles. This strikes the right balance between </a:t>
            </a:r>
            <a:r>
              <a:rPr lang="en-US" sz="800" b="1" dirty="0">
                <a:ea typeface="+mn-lt"/>
                <a:cs typeface="+mn-lt"/>
              </a:rPr>
              <a:t>competitiveness, cost efficiency, and long-term strategic value</a:t>
            </a:r>
            <a:r>
              <a:rPr lang="en-US" sz="800" dirty="0">
                <a:ea typeface="+mn-lt"/>
                <a:cs typeface="+mn-lt"/>
              </a:rPr>
              <a:t>.</a:t>
            </a:r>
            <a:endParaRPr lang="en-US" sz="800" dirty="0"/>
          </a:p>
          <a:p>
            <a:pPr>
              <a:lnSpc>
                <a:spcPct val="110000"/>
              </a:lnSpc>
            </a:pPr>
            <a:endParaRPr lang="en-US" sz="700"/>
          </a:p>
        </p:txBody>
      </p:sp>
    </p:spTree>
    <p:extLst>
      <p:ext uri="{BB962C8B-B14F-4D97-AF65-F5344CB8AC3E}">
        <p14:creationId xmlns:p14="http://schemas.microsoft.com/office/powerpoint/2010/main" val="206555685"/>
      </p:ext>
    </p:extLst>
  </p:cSld>
  <p:clrMapOvr>
    <a:masterClrMapping/>
  </p:clrMapOvr>
</p:sld>
</file>

<file path=ppt/theme/theme1.xml><?xml version="1.0" encoding="utf-8"?>
<a:theme xmlns:a="http://schemas.openxmlformats.org/drawingml/2006/main" name="AlignmentVTI">
  <a:themeElements>
    <a:clrScheme name="Alignment">
      <a:dk1>
        <a:sysClr val="windowText" lastClr="000000"/>
      </a:dk1>
      <a:lt1>
        <a:sysClr val="window" lastClr="FFFFFF"/>
      </a:lt1>
      <a:dk2>
        <a:srgbClr val="3B3D38"/>
      </a:dk2>
      <a:lt2>
        <a:srgbClr val="F7F2EE"/>
      </a:lt2>
      <a:accent1>
        <a:srgbClr val="928A63"/>
      </a:accent1>
      <a:accent2>
        <a:srgbClr val="B57B6B"/>
      </a:accent2>
      <a:accent3>
        <a:srgbClr val="9E8484"/>
      </a:accent3>
      <a:accent4>
        <a:srgbClr val="7C8A75"/>
      </a:accent4>
      <a:accent5>
        <a:srgbClr val="8C8578"/>
      </a:accent5>
      <a:accent6>
        <a:srgbClr val="A18563"/>
      </a:accent6>
      <a:hlink>
        <a:srgbClr val="B57B6B"/>
      </a:hlink>
      <a:folHlink>
        <a:srgbClr val="7C8A75"/>
      </a:folHlink>
    </a:clrScheme>
    <a:fontScheme name="Custom 1">
      <a:majorFont>
        <a:latin typeface="Batang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lignmentVTI" id="{606D7720-FAA0-4ADC-B967-3239DA8ECA1A}" vid="{10074623-6FCC-4A3C-AAA5-58644BD8FF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AlignmentVTI</vt:lpstr>
      <vt:lpstr>Data Science Salary Analysis &amp; Recommendations</vt:lpstr>
      <vt:lpstr>Introduction &amp; Objective </vt:lpstr>
      <vt:lpstr>Data Selection &amp; Filtering </vt:lpstr>
      <vt:lpstr>Overall Salary Overview</vt:lpstr>
      <vt:lpstr>Salaries by Experience Level</vt:lpstr>
      <vt:lpstr>U.S. vs. Non-U.S. Data Science Salaries </vt:lpstr>
      <vt:lpstr>U.S. vs. Non-U.S Small-Company Salaries </vt:lpstr>
      <vt:lpstr>Salary by Company Size</vt:lpstr>
      <vt:lpstr>Salary by Job Title</vt:lpstr>
      <vt:lpstr>Salary by Remote Work Category</vt:lpstr>
      <vt:lpstr>Experience Level × Remote Work</vt:lpstr>
      <vt:lpstr>Final Recommendation to the CEO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207</cp:revision>
  <dcterms:created xsi:type="dcterms:W3CDTF">2025-11-10T18:27:55Z</dcterms:created>
  <dcterms:modified xsi:type="dcterms:W3CDTF">2025-11-10T20:17:01Z</dcterms:modified>
</cp:coreProperties>
</file>