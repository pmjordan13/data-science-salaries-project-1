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sldIdLst>
    <p:sldId id="256" r:id="rId2"/>
    <p:sldId id="263" r:id="rId3"/>
    <p:sldId id="257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A1ADAD-63E6-457C-A3B9-25C97826B986}" v="24" dt="2025-11-15T19:17:32.053"/>
    <p1510:client id="{E9B43F14-8E01-49BE-9DD1-1BE95258945E}" v="407" dt="2025-11-15T19:09:36.7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086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210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3272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358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77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92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11/15/2025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871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181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083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685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242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5264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04" r:id="rId6"/>
    <p:sldLayoutId id="2147483700" r:id="rId7"/>
    <p:sldLayoutId id="2147483701" r:id="rId8"/>
    <p:sldLayoutId id="2147483702" r:id="rId9"/>
    <p:sldLayoutId id="2147483703" r:id="rId10"/>
    <p:sldLayoutId id="2147483705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6564" y="1249217"/>
            <a:ext cx="8298873" cy="2258284"/>
          </a:xfrm>
        </p:spPr>
        <p:txBody>
          <a:bodyPr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2600" b="0">
                <a:latin typeface="Grandview Display"/>
                <a:ea typeface="+mj-lt"/>
                <a:cs typeface="+mj-lt"/>
              </a:rPr>
              <a:t>Market Salary Analysis for a Data Scientist Hire</a:t>
            </a:r>
            <a:br>
              <a:rPr lang="en-US" sz="2600" b="0">
                <a:latin typeface="Grandview Display"/>
              </a:rPr>
            </a:br>
            <a:endParaRPr lang="en-US" sz="2600" b="0"/>
          </a:p>
          <a:p>
            <a:pPr algn="ctr">
              <a:lnSpc>
                <a:spcPct val="90000"/>
              </a:lnSpc>
            </a:pPr>
            <a:endParaRPr lang="en-US" sz="2600" b="0"/>
          </a:p>
          <a:p>
            <a:pPr algn="ctr">
              <a:lnSpc>
                <a:spcPct val="90000"/>
              </a:lnSpc>
            </a:pPr>
            <a:br>
              <a:rPr lang="en-US" sz="2600" dirty="0">
                <a:latin typeface="Rockwell"/>
              </a:rPr>
            </a:br>
            <a:endParaRPr lang="en-US" sz="2600">
              <a:latin typeface="Rockwell"/>
            </a:endParaRPr>
          </a:p>
          <a:p>
            <a:pPr algn="ctr">
              <a:lnSpc>
                <a:spcPct val="90000"/>
              </a:lnSpc>
            </a:pPr>
            <a:endParaRPr lang="en-US" sz="2600">
              <a:latin typeface="Rockwell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6564" y="4490100"/>
            <a:ext cx="8298873" cy="128284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2400" dirty="0">
                <a:latin typeface="Grandview Display"/>
              </a:rPr>
              <a:t>By Peter Jordan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5E10C1D6-7EDE-467F-89EA-E0244EB623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30240" y="4290504"/>
            <a:ext cx="73152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FF8F3-0505-3F48-CB5B-37B1F7E7D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latin typeface="Rockwell"/>
                <a:ea typeface="+mj-lt"/>
                <a:cs typeface="+mj-lt"/>
              </a:rPr>
              <a:t>Introduction to the Analysis</a:t>
            </a:r>
            <a:endParaRPr lang="en-US" dirty="0">
              <a:latin typeface="Rockwell"/>
            </a:endParaRP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EA570-E221-D6D2-4A92-A901D327D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i="1" dirty="0">
                <a:ea typeface="+mn-lt"/>
                <a:cs typeface="+mn-lt"/>
              </a:rPr>
              <a:t>Purpose:</a:t>
            </a:r>
            <a:r>
              <a:rPr lang="en-US" dirty="0">
                <a:ea typeface="+mn-lt"/>
                <a:cs typeface="+mn-lt"/>
              </a:rPr>
              <a:t> Determine a fair, competitive salary for hiring a </a:t>
            </a:r>
            <a:r>
              <a:rPr lang="en-US" b="1" dirty="0">
                <a:ea typeface="+mn-lt"/>
                <a:cs typeface="+mn-lt"/>
              </a:rPr>
              <a:t>Data Scientist</a:t>
            </a:r>
            <a:r>
              <a:rPr lang="en-US" dirty="0">
                <a:ea typeface="+mn-lt"/>
                <a:cs typeface="+mn-lt"/>
              </a:rPr>
              <a:t> at a small, growing company</a:t>
            </a:r>
          </a:p>
          <a:p>
            <a:r>
              <a:rPr lang="en-US" i="1" dirty="0">
                <a:ea typeface="+mn-lt"/>
                <a:cs typeface="+mn-lt"/>
              </a:rPr>
              <a:t>Focus:</a:t>
            </a:r>
            <a:r>
              <a:rPr lang="en-US" dirty="0">
                <a:ea typeface="+mn-lt"/>
                <a:cs typeface="+mn-lt"/>
              </a:rPr>
              <a:t> U.S. vs Offshore comparison</a:t>
            </a:r>
          </a:p>
          <a:p>
            <a:r>
              <a:rPr lang="en-US" i="1" dirty="0">
                <a:ea typeface="+mn-lt"/>
                <a:cs typeface="+mn-lt"/>
              </a:rPr>
              <a:t>Method:</a:t>
            </a:r>
            <a:r>
              <a:rPr lang="en-US" dirty="0">
                <a:ea typeface="+mn-lt"/>
                <a:cs typeface="+mn-lt"/>
              </a:rPr>
              <a:t> Use </a:t>
            </a:r>
            <a:r>
              <a:rPr lang="en-US" b="1" dirty="0">
                <a:ea typeface="+mn-lt"/>
                <a:cs typeface="+mn-lt"/>
              </a:rPr>
              <a:t>IQR-based analysis</a:t>
            </a:r>
            <a:r>
              <a:rPr lang="en-US" dirty="0">
                <a:ea typeface="+mn-lt"/>
                <a:cs typeface="+mn-lt"/>
              </a:rPr>
              <a:t> to avoid outliers and get realistic salary ranges</a:t>
            </a:r>
          </a:p>
          <a:p>
            <a:r>
              <a:rPr lang="en-US" i="1" dirty="0">
                <a:ea typeface="+mn-lt"/>
                <a:cs typeface="+mn-lt"/>
              </a:rPr>
              <a:t>Goal:</a:t>
            </a:r>
            <a:r>
              <a:rPr lang="en-US" dirty="0">
                <a:ea typeface="+mn-lt"/>
                <a:cs typeface="+mn-lt"/>
              </a:rPr>
              <a:t> Provide a clear recommendation aligned with market data and CEO requirements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208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487DC-0AE2-EE13-B0E1-0B63760A5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 b="0" dirty="0">
                <a:latin typeface="Rockwell"/>
                <a:ea typeface="+mj-lt"/>
                <a:cs typeface="+mj-lt"/>
              </a:rPr>
              <a:t>Data Used &amp; Filtering</a:t>
            </a:r>
            <a:endParaRPr lang="en-US" b="0" dirty="0">
              <a:latin typeface="Rockwel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D4008-C5DE-F7B1-01B0-F2EDF5DCAD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599" y="2081679"/>
            <a:ext cx="11127409" cy="432815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600" b="1" dirty="0"/>
              <a:t>Included:</a:t>
            </a:r>
            <a:endParaRPr lang="en-US" sz="1600"/>
          </a:p>
          <a:p>
            <a:r>
              <a:rPr lang="en-US" sz="1600" b="1" dirty="0">
                <a:ea typeface="+mn-lt"/>
                <a:cs typeface="+mn-lt"/>
              </a:rPr>
              <a:t>Data Scientist</a:t>
            </a:r>
            <a:r>
              <a:rPr lang="en-US" sz="1600" dirty="0">
                <a:ea typeface="+mn-lt"/>
                <a:cs typeface="+mn-lt"/>
              </a:rPr>
              <a:t> (only this job title)</a:t>
            </a:r>
          </a:p>
          <a:p>
            <a:r>
              <a:rPr lang="en-US" sz="1600" b="1" dirty="0">
                <a:ea typeface="+mn-lt"/>
                <a:cs typeface="+mn-lt"/>
              </a:rPr>
              <a:t>Small-company</a:t>
            </a:r>
            <a:r>
              <a:rPr lang="en-US" sz="1600" dirty="0">
                <a:ea typeface="+mn-lt"/>
                <a:cs typeface="+mn-lt"/>
              </a:rPr>
              <a:t> records</a:t>
            </a:r>
          </a:p>
          <a:p>
            <a:r>
              <a:rPr lang="en-US" sz="1600" b="1" dirty="0">
                <a:ea typeface="+mn-lt"/>
                <a:cs typeface="+mn-lt"/>
              </a:rPr>
              <a:t>U.S. + Non-U.S.</a:t>
            </a:r>
            <a:r>
              <a:rPr lang="en-US" sz="1600" dirty="0">
                <a:ea typeface="+mn-lt"/>
                <a:cs typeface="+mn-lt"/>
              </a:rPr>
              <a:t> salaries</a:t>
            </a:r>
            <a:endParaRPr lang="en-US" sz="1600"/>
          </a:p>
          <a:p>
            <a:r>
              <a:rPr lang="en-US" sz="1600" b="1" dirty="0"/>
              <a:t>Why Only “Data Scientist”?</a:t>
            </a:r>
            <a:endParaRPr lang="en-US" sz="1600"/>
          </a:p>
          <a:p>
            <a:r>
              <a:rPr lang="en-US" sz="1600" dirty="0">
                <a:ea typeface="+mn-lt"/>
                <a:cs typeface="+mn-lt"/>
              </a:rPr>
              <a:t>Matches the role the CEO intends to hire</a:t>
            </a:r>
          </a:p>
          <a:p>
            <a:r>
              <a:rPr lang="en-US" sz="1600" dirty="0">
                <a:ea typeface="+mn-lt"/>
                <a:cs typeface="+mn-lt"/>
              </a:rPr>
              <a:t>Avoids skew from engineering/analyst/manager salaries</a:t>
            </a:r>
            <a:endParaRPr lang="en-US" sz="1600"/>
          </a:p>
          <a:p>
            <a:r>
              <a:rPr lang="en-US" sz="1600" dirty="0">
                <a:ea typeface="+mn-lt"/>
                <a:cs typeface="+mn-lt"/>
              </a:rPr>
              <a:t>Gives a clean, accurate benchmark for a small company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74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" name="Rectangle 66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C4AAB0-D9D5-40D8-9CFE-5FC5C2063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 b="0" dirty="0">
                <a:latin typeface="Rockwell"/>
              </a:rPr>
              <a:t>U.S. vs. Offshore Salaries (Data Scientist — Small Companies)</a:t>
            </a:r>
          </a:p>
          <a:p>
            <a:pPr>
              <a:lnSpc>
                <a:spcPct val="90000"/>
              </a:lnSpc>
            </a:pPr>
            <a:endParaRPr lang="en-US" sz="3700" b="0" dirty="0">
              <a:latin typeface="Rockwell"/>
            </a:endParaRPr>
          </a:p>
          <a:p>
            <a:pPr>
              <a:lnSpc>
                <a:spcPct val="90000"/>
              </a:lnSpc>
            </a:pPr>
            <a:endParaRPr lang="en-US" sz="3700" b="0">
              <a:latin typeface="Rockwell"/>
            </a:endParaRPr>
          </a:p>
        </p:txBody>
      </p:sp>
      <p:pic>
        <p:nvPicPr>
          <p:cNvPr id="7" name="Picture 6" descr="A graph of a salary comparison&#10;&#10;AI-generated content may be incorrect.">
            <a:extLst>
              <a:ext uri="{FF2B5EF4-FFF2-40B4-BE49-F238E27FC236}">
                <a16:creationId xmlns:a16="http://schemas.microsoft.com/office/drawing/2014/main" id="{39E14735-3139-7EAE-B0C0-7091977CD2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256287"/>
            <a:ext cx="4899621" cy="376045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55618-A193-BF8A-5A41-D48AC839D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5150" y="2256287"/>
            <a:ext cx="4563618" cy="376045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0000"/>
              </a:lnSpc>
              <a:buNone/>
            </a:pPr>
            <a:r>
              <a:rPr lang="en-US" sz="1400" b="1"/>
              <a:t>U.S. Data Scientist</a:t>
            </a:r>
            <a:endParaRPr lang="en-US" sz="1400"/>
          </a:p>
          <a:p>
            <a:pPr>
              <a:lnSpc>
                <a:spcPct val="110000"/>
              </a:lnSpc>
              <a:buFont typeface="Arial"/>
              <a:buChar char="•"/>
            </a:pPr>
            <a:r>
              <a:rPr lang="en-US" sz="1400" b="1">
                <a:ea typeface="+mn-lt"/>
                <a:cs typeface="+mn-lt"/>
              </a:rPr>
              <a:t>IQR:</a:t>
            </a:r>
            <a:r>
              <a:rPr lang="en-US" sz="1400">
                <a:ea typeface="+mn-lt"/>
                <a:cs typeface="+mn-lt"/>
              </a:rPr>
              <a:t> $46.9K – $95K</a:t>
            </a:r>
          </a:p>
          <a:p>
            <a:pPr>
              <a:lnSpc>
                <a:spcPct val="110000"/>
              </a:lnSpc>
              <a:buFont typeface="Arial"/>
              <a:buChar char="•"/>
            </a:pPr>
            <a:r>
              <a:rPr lang="en-US" sz="1400" b="1">
                <a:ea typeface="+mn-lt"/>
                <a:cs typeface="+mn-lt"/>
              </a:rPr>
              <a:t>Median: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b="1">
                <a:ea typeface="+mn-lt"/>
                <a:cs typeface="+mn-lt"/>
              </a:rPr>
              <a:t>$82.5K</a:t>
            </a:r>
          </a:p>
          <a:p>
            <a:pPr>
              <a:lnSpc>
                <a:spcPct val="110000"/>
              </a:lnSpc>
              <a:buFont typeface="Arial"/>
              <a:buChar char="•"/>
            </a:pPr>
            <a:r>
              <a:rPr lang="en-US" sz="1400" b="1" dirty="0">
                <a:ea typeface="+mn-lt"/>
                <a:cs typeface="+mn-lt"/>
              </a:rPr>
              <a:t>Takeaway:</a:t>
            </a:r>
            <a:r>
              <a:rPr lang="en-US" sz="1400" dirty="0">
                <a:ea typeface="+mn-lt"/>
                <a:cs typeface="+mn-lt"/>
              </a:rPr>
              <a:t> U.S. pay is </a:t>
            </a:r>
            <a:r>
              <a:rPr lang="en-US" sz="1400" b="1" dirty="0">
                <a:ea typeface="+mn-lt"/>
                <a:cs typeface="+mn-lt"/>
              </a:rPr>
              <a:t>almost 2× higher</a:t>
            </a:r>
            <a:r>
              <a:rPr lang="en-US" sz="1400" dirty="0">
                <a:ea typeface="+mn-lt"/>
                <a:cs typeface="+mn-lt"/>
              </a:rPr>
              <a:t> than offshore, reflecting a more competitive and mature market.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b="1" dirty="0"/>
              <a:t>Offshore Data Scientist</a:t>
            </a:r>
            <a:endParaRPr lang="en-US" sz="1400" dirty="0"/>
          </a:p>
          <a:p>
            <a:pPr>
              <a:lnSpc>
                <a:spcPct val="110000"/>
              </a:lnSpc>
              <a:buFont typeface="Arial"/>
              <a:buChar char="•"/>
            </a:pPr>
            <a:r>
              <a:rPr lang="en-US" sz="1400" b="1">
                <a:ea typeface="+mn-lt"/>
                <a:cs typeface="+mn-lt"/>
              </a:rPr>
              <a:t>IQR:</a:t>
            </a:r>
            <a:r>
              <a:rPr lang="en-US" sz="1400">
                <a:ea typeface="+mn-lt"/>
                <a:cs typeface="+mn-lt"/>
              </a:rPr>
              <a:t> $18.1K – $62.7K</a:t>
            </a:r>
          </a:p>
          <a:p>
            <a:pPr>
              <a:lnSpc>
                <a:spcPct val="110000"/>
              </a:lnSpc>
              <a:buFont typeface="Arial"/>
              <a:buChar char="•"/>
            </a:pPr>
            <a:r>
              <a:rPr lang="en-US" sz="1400" b="1">
                <a:ea typeface="+mn-lt"/>
                <a:cs typeface="+mn-lt"/>
              </a:rPr>
              <a:t>Median: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b="1">
                <a:ea typeface="+mn-lt"/>
                <a:cs typeface="+mn-lt"/>
              </a:rPr>
              <a:t>$45.7K</a:t>
            </a:r>
          </a:p>
          <a:p>
            <a:pPr>
              <a:lnSpc>
                <a:spcPct val="110000"/>
              </a:lnSpc>
              <a:buFont typeface="Arial"/>
              <a:buChar char="•"/>
            </a:pPr>
            <a:r>
              <a:rPr lang="en-US" sz="1400" b="1">
                <a:ea typeface="+mn-lt"/>
                <a:cs typeface="+mn-lt"/>
              </a:rPr>
              <a:t>Takeaway:</a:t>
            </a:r>
            <a:r>
              <a:rPr lang="en-US" sz="1400">
                <a:ea typeface="+mn-lt"/>
                <a:cs typeface="+mn-lt"/>
              </a:rPr>
              <a:t> Offshore salaries vary widely; many regions offer very low-cost talent, but quality and consistency differ.</a:t>
            </a:r>
          </a:p>
          <a:p>
            <a:pPr>
              <a:lnSpc>
                <a:spcPct val="110000"/>
              </a:lnSpc>
              <a:buNone/>
            </a:pPr>
            <a:endParaRPr lang="en-US" sz="1400" b="1">
              <a:ea typeface="+mn-lt"/>
              <a:cs typeface="+mn-lt"/>
            </a:endParaRPr>
          </a:p>
          <a:p>
            <a:pPr>
              <a:lnSpc>
                <a:spcPct val="110000"/>
              </a:lnSpc>
              <a:buNone/>
            </a:pPr>
            <a:endParaRPr lang="en-US" sz="1400" b="1">
              <a:ea typeface="+mn-lt"/>
              <a:cs typeface="+mn-lt"/>
            </a:endParaRPr>
          </a:p>
          <a:p>
            <a:pPr>
              <a:lnSpc>
                <a:spcPct val="110000"/>
              </a:lnSpc>
              <a:buNone/>
            </a:pPr>
            <a:endParaRPr lang="en-US" sz="1400" b="1"/>
          </a:p>
          <a:p>
            <a:pPr marL="0" indent="0">
              <a:lnSpc>
                <a:spcPct val="110000"/>
              </a:lnSpc>
              <a:buNone/>
            </a:pPr>
            <a:endParaRPr lang="en-US" sz="1400" b="1"/>
          </a:p>
          <a:p>
            <a:pPr>
              <a:lnSpc>
                <a:spcPct val="110000"/>
              </a:lnSpc>
            </a:pPr>
            <a:endParaRPr lang="en-US" sz="1400" b="1"/>
          </a:p>
          <a:p>
            <a:pPr>
              <a:lnSpc>
                <a:spcPct val="110000"/>
              </a:lnSpc>
            </a:pPr>
            <a:endParaRPr lang="en-US" sz="1400"/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7755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58A3E6-F812-C876-9794-2A100283D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 b="0">
                <a:latin typeface="Rockwell"/>
                <a:ea typeface="+mj-lt"/>
                <a:cs typeface="+mj-lt"/>
              </a:rPr>
              <a:t>Recommended Job Title — “Data Scientist” (with growth path to Lead Data Scientist)</a:t>
            </a:r>
            <a:endParaRPr lang="en-US" sz="3700">
              <a:latin typeface="Rockwell"/>
            </a:endParaRPr>
          </a:p>
        </p:txBody>
      </p:sp>
      <p:pic>
        <p:nvPicPr>
          <p:cNvPr id="6" name="Picture 5" descr="A graph of a salary&#10;&#10;AI-generated content may be incorrect.">
            <a:extLst>
              <a:ext uri="{FF2B5EF4-FFF2-40B4-BE49-F238E27FC236}">
                <a16:creationId xmlns:a16="http://schemas.microsoft.com/office/drawing/2014/main" id="{BC0F7100-3A2B-767E-2476-DC1ACE2F1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484420"/>
            <a:ext cx="5648193" cy="330419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8630E-60DA-84DA-9304-D9E8134FE3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5150" y="2256287"/>
            <a:ext cx="4563618" cy="376045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800" b="1"/>
              <a:t>Why this role?</a:t>
            </a:r>
            <a:endParaRPr lang="en-US" sz="800"/>
          </a:p>
          <a:p>
            <a:pPr>
              <a:lnSpc>
                <a:spcPct val="110000"/>
              </a:lnSpc>
            </a:pPr>
            <a:r>
              <a:rPr lang="en-US" sz="800">
                <a:ea typeface="+mn-lt"/>
                <a:cs typeface="+mn-lt"/>
              </a:rPr>
              <a:t>Matches the CEO’s need for </a:t>
            </a:r>
            <a:r>
              <a:rPr lang="en-US" sz="800" b="1">
                <a:ea typeface="+mn-lt"/>
                <a:cs typeface="+mn-lt"/>
              </a:rPr>
              <a:t>one person to own modeling + analytics</a:t>
            </a:r>
            <a:r>
              <a:rPr lang="en-US" sz="800">
                <a:ea typeface="+mn-lt"/>
                <a:cs typeface="+mn-lt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sz="800">
                <a:ea typeface="+mn-lt"/>
                <a:cs typeface="+mn-lt"/>
              </a:rPr>
              <a:t>Ideal for a </a:t>
            </a:r>
            <a:r>
              <a:rPr lang="en-US" sz="800" b="1">
                <a:ea typeface="+mn-lt"/>
                <a:cs typeface="+mn-lt"/>
              </a:rPr>
              <a:t>small, fast-growing company</a:t>
            </a:r>
            <a:r>
              <a:rPr lang="en-US" sz="800">
                <a:ea typeface="+mn-lt"/>
                <a:cs typeface="+mn-lt"/>
              </a:rPr>
              <a:t> (broad skillset, hands-on).</a:t>
            </a:r>
            <a:endParaRPr lang="en-US" sz="800"/>
          </a:p>
          <a:p>
            <a:pPr>
              <a:lnSpc>
                <a:spcPct val="110000"/>
              </a:lnSpc>
            </a:pPr>
            <a:r>
              <a:rPr lang="en-US" sz="800">
                <a:ea typeface="+mn-lt"/>
                <a:cs typeface="+mn-lt"/>
              </a:rPr>
              <a:t>Senior titles (Lead, Director, Principal) cost far more at small firms.</a:t>
            </a:r>
            <a:endParaRPr lang="en-US" sz="800"/>
          </a:p>
          <a:p>
            <a:pPr>
              <a:lnSpc>
                <a:spcPct val="110000"/>
              </a:lnSpc>
            </a:pPr>
            <a:r>
              <a:rPr lang="en-US" sz="800">
                <a:ea typeface="+mn-lt"/>
                <a:cs typeface="+mn-lt"/>
              </a:rPr>
              <a:t>Provides a </a:t>
            </a:r>
            <a:r>
              <a:rPr lang="en-US" sz="800" b="1">
                <a:ea typeface="+mn-lt"/>
                <a:cs typeface="+mn-lt"/>
              </a:rPr>
              <a:t>clear growth path</a:t>
            </a:r>
            <a:r>
              <a:rPr lang="en-US" sz="800">
                <a:ea typeface="+mn-lt"/>
                <a:cs typeface="+mn-lt"/>
              </a:rPr>
              <a:t> as the company scales.</a:t>
            </a:r>
          </a:p>
          <a:p>
            <a:pPr>
              <a:lnSpc>
                <a:spcPct val="110000"/>
              </a:lnSpc>
            </a:pPr>
            <a:r>
              <a:rPr lang="en-US" sz="800" b="1"/>
              <a:t>Salary Insights (Small Companies Only — U.S.)</a:t>
            </a:r>
            <a:endParaRPr lang="en-US" sz="800"/>
          </a:p>
          <a:p>
            <a:pPr>
              <a:lnSpc>
                <a:spcPct val="110000"/>
              </a:lnSpc>
            </a:pPr>
            <a:r>
              <a:rPr lang="en-US" sz="800" b="1">
                <a:ea typeface="+mn-lt"/>
                <a:cs typeface="+mn-lt"/>
              </a:rPr>
              <a:t>Data Scientist:</a:t>
            </a:r>
            <a:r>
              <a:rPr lang="en-US" sz="800">
                <a:ea typeface="+mn-lt"/>
                <a:cs typeface="+mn-lt"/>
              </a:rPr>
              <a:t> ~</a:t>
            </a:r>
            <a:r>
              <a:rPr lang="en-US" sz="800" b="1">
                <a:ea typeface="+mn-lt"/>
                <a:cs typeface="+mn-lt"/>
              </a:rPr>
              <a:t>$50K–$100K</a:t>
            </a:r>
            <a:r>
              <a:rPr lang="en-US" sz="800">
                <a:ea typeface="+mn-lt"/>
                <a:cs typeface="+mn-lt"/>
              </a:rPr>
              <a:t> typical U.S. range (varies by dataset/IQR).</a:t>
            </a:r>
          </a:p>
          <a:p>
            <a:pPr>
              <a:lnSpc>
                <a:spcPct val="110000"/>
              </a:lnSpc>
            </a:pPr>
            <a:r>
              <a:rPr lang="en-US" sz="800" b="1">
                <a:ea typeface="+mn-lt"/>
                <a:cs typeface="+mn-lt"/>
              </a:rPr>
              <a:t>Lead Data Scientist:</a:t>
            </a:r>
            <a:r>
              <a:rPr lang="en-US" sz="800">
                <a:ea typeface="+mn-lt"/>
                <a:cs typeface="+mn-lt"/>
              </a:rPr>
              <a:t> ~</a:t>
            </a:r>
            <a:r>
              <a:rPr lang="en-US" sz="800" b="1">
                <a:ea typeface="+mn-lt"/>
                <a:cs typeface="+mn-lt"/>
              </a:rPr>
              <a:t>$190K median</a:t>
            </a:r>
            <a:r>
              <a:rPr lang="en-US" sz="800">
                <a:ea typeface="+mn-lt"/>
                <a:cs typeface="+mn-lt"/>
              </a:rPr>
              <a:t> (too expensive for small firm).</a:t>
            </a:r>
            <a:endParaRPr lang="en-US" sz="800"/>
          </a:p>
          <a:p>
            <a:pPr>
              <a:lnSpc>
                <a:spcPct val="110000"/>
              </a:lnSpc>
            </a:pPr>
            <a:r>
              <a:rPr lang="en-US" sz="800" b="1">
                <a:ea typeface="+mn-lt"/>
                <a:cs typeface="+mn-lt"/>
              </a:rPr>
              <a:t>Director:</a:t>
            </a:r>
            <a:r>
              <a:rPr lang="en-US" sz="800">
                <a:ea typeface="+mn-lt"/>
                <a:cs typeface="+mn-lt"/>
              </a:rPr>
              <a:t> ~</a:t>
            </a:r>
            <a:r>
              <a:rPr lang="en-US" sz="800" b="1">
                <a:ea typeface="+mn-lt"/>
                <a:cs typeface="+mn-lt"/>
              </a:rPr>
              <a:t>$168K median</a:t>
            </a:r>
            <a:r>
              <a:rPr lang="en-US" sz="800">
                <a:ea typeface="+mn-lt"/>
                <a:cs typeface="+mn-lt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sz="800" b="1">
                <a:ea typeface="+mn-lt"/>
                <a:cs typeface="+mn-lt"/>
              </a:rPr>
              <a:t>Principal:</a:t>
            </a:r>
            <a:r>
              <a:rPr lang="en-US" sz="800">
                <a:ea typeface="+mn-lt"/>
                <a:cs typeface="+mn-lt"/>
              </a:rPr>
              <a:t> ~</a:t>
            </a:r>
            <a:r>
              <a:rPr lang="en-US" sz="800" b="1">
                <a:ea typeface="+mn-lt"/>
                <a:cs typeface="+mn-lt"/>
              </a:rPr>
              <a:t>$416K median</a:t>
            </a:r>
            <a:r>
              <a:rPr lang="en-US" sz="800">
                <a:ea typeface="+mn-lt"/>
                <a:cs typeface="+mn-lt"/>
              </a:rPr>
              <a:t> (enterprise-level only).</a:t>
            </a:r>
            <a:endParaRPr lang="en-US" sz="800"/>
          </a:p>
          <a:p>
            <a:pPr>
              <a:lnSpc>
                <a:spcPct val="110000"/>
              </a:lnSpc>
            </a:pPr>
            <a:r>
              <a:rPr lang="en-US" sz="800" b="1"/>
              <a:t>Key Message</a:t>
            </a:r>
            <a:endParaRPr lang="en-US" sz="800"/>
          </a:p>
          <a:p>
            <a:pPr>
              <a:lnSpc>
                <a:spcPct val="110000"/>
              </a:lnSpc>
            </a:pPr>
            <a:r>
              <a:rPr lang="en-US" sz="800">
                <a:ea typeface="+mn-lt"/>
                <a:cs typeface="+mn-lt"/>
              </a:rPr>
              <a:t>Hiring a </a:t>
            </a:r>
            <a:r>
              <a:rPr lang="en-US" sz="800" b="1">
                <a:ea typeface="+mn-lt"/>
                <a:cs typeface="+mn-lt"/>
              </a:rPr>
              <a:t>Data Scientist</a:t>
            </a:r>
            <a:r>
              <a:rPr lang="en-US" sz="800">
                <a:ea typeface="+mn-lt"/>
                <a:cs typeface="+mn-lt"/>
              </a:rPr>
              <a:t> gives the company strong capability now </a:t>
            </a:r>
            <a:r>
              <a:rPr lang="en-US" sz="800" b="1">
                <a:ea typeface="+mn-lt"/>
                <a:cs typeface="+mn-lt"/>
              </a:rPr>
              <a:t>without the very high cost</a:t>
            </a:r>
            <a:r>
              <a:rPr lang="en-US" sz="800">
                <a:ea typeface="+mn-lt"/>
                <a:cs typeface="+mn-lt"/>
              </a:rPr>
              <a:t> of senior leadership titles — while still leaving room for a future promotion to </a:t>
            </a:r>
            <a:r>
              <a:rPr lang="en-US" sz="800" b="1">
                <a:ea typeface="+mn-lt"/>
                <a:cs typeface="+mn-lt"/>
              </a:rPr>
              <a:t>Lead Data Scientist</a:t>
            </a:r>
            <a:r>
              <a:rPr lang="en-US" sz="800">
                <a:ea typeface="+mn-lt"/>
                <a:cs typeface="+mn-lt"/>
              </a:rPr>
              <a:t>.</a:t>
            </a:r>
          </a:p>
          <a:p>
            <a:pPr>
              <a:lnSpc>
                <a:spcPct val="110000"/>
              </a:lnSpc>
            </a:pPr>
            <a:endParaRPr lang="en-US" sz="800" b="1">
              <a:ea typeface="+mn-lt"/>
              <a:cs typeface="+mn-lt"/>
            </a:endParaRPr>
          </a:p>
          <a:p>
            <a:pPr>
              <a:lnSpc>
                <a:spcPct val="110000"/>
              </a:lnSpc>
            </a:pPr>
            <a:endParaRPr lang="en-US" sz="800" b="1"/>
          </a:p>
          <a:p>
            <a:pPr>
              <a:lnSpc>
                <a:spcPct val="110000"/>
              </a:lnSpc>
            </a:pPr>
            <a:endParaRPr lang="en-US" sz="80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3518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4" name="Rectangle 63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AA9709-43EC-A899-724F-AF9E7D827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737859" cy="10972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b="0">
                <a:latin typeface="Rockwell"/>
                <a:ea typeface="+mj-lt"/>
                <a:cs typeface="+mj-lt"/>
              </a:rPr>
              <a:t>Salary Range Recommendation (Based on IQR)</a:t>
            </a:r>
            <a:endParaRPr lang="en-US" sz="2800">
              <a:latin typeface="Rockwell"/>
            </a:endParaRP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9CDC1-1385-81C7-3628-D4A72C4CA6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236"/>
            <a:ext cx="5737860" cy="366698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en-US" sz="1000" b="1" dirty="0"/>
              <a:t>U.S. Candidate (Preferred Hire)</a:t>
            </a:r>
            <a:endParaRPr lang="en-US" sz="1000" dirty="0"/>
          </a:p>
          <a:p>
            <a:r>
              <a:rPr lang="en-US" sz="1000" b="1" dirty="0">
                <a:ea typeface="+mn-lt"/>
                <a:cs typeface="+mn-lt"/>
              </a:rPr>
              <a:t>Recommended Range: $90K – $105K</a:t>
            </a:r>
            <a:endParaRPr lang="en-US" sz="1000" dirty="0">
              <a:ea typeface="+mn-lt"/>
              <a:cs typeface="+mn-lt"/>
            </a:endParaRPr>
          </a:p>
          <a:p>
            <a:r>
              <a:rPr lang="en-US" sz="1000" dirty="0">
                <a:ea typeface="+mn-lt"/>
                <a:cs typeface="+mn-lt"/>
              </a:rPr>
              <a:t>Aligned with the </a:t>
            </a:r>
            <a:r>
              <a:rPr lang="en-US" sz="1000" b="1" dirty="0">
                <a:ea typeface="+mn-lt"/>
                <a:cs typeface="+mn-lt"/>
              </a:rPr>
              <a:t>U.S. IQR ($88K – $101K)</a:t>
            </a:r>
            <a:endParaRPr lang="en-US" dirty="0"/>
          </a:p>
          <a:p>
            <a:r>
              <a:rPr lang="en-US" sz="1000" dirty="0">
                <a:ea typeface="+mn-lt"/>
                <a:cs typeface="+mn-lt"/>
              </a:rPr>
              <a:t>Keeps the offer competitive without hitting outliers</a:t>
            </a:r>
            <a:endParaRPr lang="en-US" dirty="0"/>
          </a:p>
          <a:p>
            <a:r>
              <a:rPr lang="en-US" sz="1000" dirty="0">
                <a:ea typeface="+mn-lt"/>
                <a:cs typeface="+mn-lt"/>
              </a:rPr>
              <a:t>Leaves room for growth into a Lead Data Scientist role</a:t>
            </a:r>
            <a:endParaRPr lang="en-US" dirty="0"/>
          </a:p>
          <a:p>
            <a:pPr>
              <a:lnSpc>
                <a:spcPct val="110000"/>
              </a:lnSpc>
            </a:pPr>
            <a:r>
              <a:rPr lang="en-US" sz="1000" b="1" dirty="0"/>
              <a:t>Offshore Candidate (Alternative Option)</a:t>
            </a:r>
            <a:endParaRPr lang="en-US" sz="1000" dirty="0"/>
          </a:p>
          <a:p>
            <a:pPr>
              <a:lnSpc>
                <a:spcPct val="110000"/>
              </a:lnSpc>
            </a:pPr>
            <a:r>
              <a:rPr lang="en-US" sz="1000" b="1" dirty="0">
                <a:ea typeface="+mn-lt"/>
                <a:cs typeface="+mn-lt"/>
              </a:rPr>
              <a:t>Recommended Range:</a:t>
            </a:r>
            <a:r>
              <a:rPr lang="en-US" sz="1000" dirty="0">
                <a:ea typeface="+mn-lt"/>
                <a:cs typeface="+mn-lt"/>
              </a:rPr>
              <a:t> </a:t>
            </a:r>
            <a:r>
              <a:rPr lang="en-US" sz="1000" b="1" dirty="0">
                <a:ea typeface="+mn-lt"/>
                <a:cs typeface="+mn-lt"/>
              </a:rPr>
              <a:t>$45K – $60K</a:t>
            </a:r>
            <a:endParaRPr lang="en-US" sz="1000" dirty="0">
              <a:ea typeface="+mn-lt"/>
              <a:cs typeface="+mn-lt"/>
            </a:endParaRPr>
          </a:p>
          <a:p>
            <a:pPr>
              <a:lnSpc>
                <a:spcPct val="110000"/>
              </a:lnSpc>
            </a:pPr>
            <a:r>
              <a:rPr lang="en-US" sz="1000" dirty="0">
                <a:ea typeface="+mn-lt"/>
                <a:cs typeface="+mn-lt"/>
              </a:rPr>
              <a:t>Based on the </a:t>
            </a:r>
            <a:r>
              <a:rPr lang="en-US" sz="1000" b="1" dirty="0">
                <a:ea typeface="+mn-lt"/>
                <a:cs typeface="+mn-lt"/>
              </a:rPr>
              <a:t>upper half of offshore IQR</a:t>
            </a:r>
            <a:endParaRPr lang="en-US" sz="1000" dirty="0">
              <a:ea typeface="+mn-lt"/>
              <a:cs typeface="+mn-lt"/>
            </a:endParaRPr>
          </a:p>
          <a:p>
            <a:pPr>
              <a:lnSpc>
                <a:spcPct val="110000"/>
              </a:lnSpc>
            </a:pPr>
            <a:r>
              <a:rPr lang="en-US" sz="1000" dirty="0">
                <a:ea typeface="+mn-lt"/>
                <a:cs typeface="+mn-lt"/>
              </a:rPr>
              <a:t>Lower cost but wider salary variation and less stability</a:t>
            </a:r>
            <a:endParaRPr lang="en-US" sz="1000" dirty="0"/>
          </a:p>
          <a:p>
            <a:pPr>
              <a:lnSpc>
                <a:spcPct val="110000"/>
              </a:lnSpc>
            </a:pPr>
            <a:r>
              <a:rPr lang="en-US" sz="1000" b="1" dirty="0"/>
              <a:t>Why This Range Works</a:t>
            </a:r>
            <a:endParaRPr lang="en-US" sz="1000" dirty="0"/>
          </a:p>
          <a:p>
            <a:pPr>
              <a:lnSpc>
                <a:spcPct val="110000"/>
              </a:lnSpc>
            </a:pPr>
            <a:r>
              <a:rPr lang="en-US" sz="1000" dirty="0">
                <a:ea typeface="+mn-lt"/>
                <a:cs typeface="+mn-lt"/>
              </a:rPr>
              <a:t>Uses </a:t>
            </a:r>
            <a:r>
              <a:rPr lang="en-US" sz="1000" b="1" dirty="0">
                <a:ea typeface="+mn-lt"/>
                <a:cs typeface="+mn-lt"/>
              </a:rPr>
              <a:t>IQR (not outliers)</a:t>
            </a:r>
            <a:r>
              <a:rPr lang="en-US" sz="1000" dirty="0">
                <a:ea typeface="+mn-lt"/>
                <a:cs typeface="+mn-lt"/>
              </a:rPr>
              <a:t> to reflect realistic market conditions</a:t>
            </a:r>
            <a:endParaRPr lang="en-US" sz="1000" dirty="0"/>
          </a:p>
          <a:p>
            <a:pPr>
              <a:lnSpc>
                <a:spcPct val="110000"/>
              </a:lnSpc>
            </a:pPr>
            <a:r>
              <a:rPr lang="en-US" sz="1000" dirty="0">
                <a:ea typeface="+mn-lt"/>
                <a:cs typeface="+mn-lt"/>
              </a:rPr>
              <a:t>Balances </a:t>
            </a:r>
            <a:r>
              <a:rPr lang="en-US" sz="1000" b="1" dirty="0">
                <a:ea typeface="+mn-lt"/>
                <a:cs typeface="+mn-lt"/>
              </a:rPr>
              <a:t>cost efficiency</a:t>
            </a:r>
            <a:r>
              <a:rPr lang="en-US" sz="1000" dirty="0">
                <a:ea typeface="+mn-lt"/>
                <a:cs typeface="+mn-lt"/>
              </a:rPr>
              <a:t> with </a:t>
            </a:r>
            <a:r>
              <a:rPr lang="en-US" sz="1000" b="1" dirty="0">
                <a:ea typeface="+mn-lt"/>
                <a:cs typeface="+mn-lt"/>
              </a:rPr>
              <a:t>competitiveness</a:t>
            </a:r>
          </a:p>
          <a:p>
            <a:pPr>
              <a:lnSpc>
                <a:spcPct val="110000"/>
              </a:lnSpc>
            </a:pPr>
            <a:r>
              <a:rPr lang="en-US" sz="1000" dirty="0">
                <a:ea typeface="+mn-lt"/>
                <a:cs typeface="+mn-lt"/>
              </a:rPr>
              <a:t>Leaves room for growth into a </a:t>
            </a:r>
            <a:r>
              <a:rPr lang="en-US" sz="1000" b="1" dirty="0">
                <a:ea typeface="+mn-lt"/>
                <a:cs typeface="+mn-lt"/>
              </a:rPr>
              <a:t>Lead Data Scientist</a:t>
            </a:r>
            <a:r>
              <a:rPr lang="en-US" sz="1000" dirty="0">
                <a:ea typeface="+mn-lt"/>
                <a:cs typeface="+mn-lt"/>
              </a:rPr>
              <a:t> role</a:t>
            </a:r>
            <a:endParaRPr lang="en-US" sz="1000" dirty="0"/>
          </a:p>
          <a:p>
            <a:pPr>
              <a:lnSpc>
                <a:spcPct val="110000"/>
              </a:lnSpc>
            </a:pPr>
            <a:endParaRPr lang="en-US" sz="1000" b="1"/>
          </a:p>
          <a:p>
            <a:pPr>
              <a:lnSpc>
                <a:spcPct val="110000"/>
              </a:lnSpc>
            </a:pPr>
            <a:endParaRPr lang="en-US" sz="100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C68B46B-5442-72C0-1B6D-5AAE4212CF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311244"/>
              </p:ext>
            </p:extLst>
          </p:nvPr>
        </p:nvGraphicFramePr>
        <p:xfrm>
          <a:off x="7155179" y="1903289"/>
          <a:ext cx="4375830" cy="34080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1277610">
                  <a:extLst>
                    <a:ext uri="{9D8B030D-6E8A-4147-A177-3AD203B41FA5}">
                      <a16:colId xmlns:a16="http://schemas.microsoft.com/office/drawing/2014/main" val="4274073148"/>
                    </a:ext>
                  </a:extLst>
                </a:gridCol>
                <a:gridCol w="1573378">
                  <a:extLst>
                    <a:ext uri="{9D8B030D-6E8A-4147-A177-3AD203B41FA5}">
                      <a16:colId xmlns:a16="http://schemas.microsoft.com/office/drawing/2014/main" val="2435807164"/>
                    </a:ext>
                  </a:extLst>
                </a:gridCol>
                <a:gridCol w="1524842">
                  <a:extLst>
                    <a:ext uri="{9D8B030D-6E8A-4147-A177-3AD203B41FA5}">
                      <a16:colId xmlns:a16="http://schemas.microsoft.com/office/drawing/2014/main" val="1456979694"/>
                    </a:ext>
                  </a:extLst>
                </a:gridCol>
              </a:tblGrid>
              <a:tr h="1150470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2200" u="none" strike="noStrike" noProof="0"/>
                    </a:p>
                  </a:txBody>
                  <a:tcPr marL="110820" marR="110820" marT="55410" marB="5541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200" u="none" strike="noStrike" noProof="0">
                          <a:solidFill>
                            <a:srgbClr val="000000"/>
                          </a:solidFill>
                        </a:rPr>
                        <a:t>U.S. Data Scientist</a:t>
                      </a:r>
                      <a:endParaRPr lang="en-US" sz="2200"/>
                    </a:p>
                  </a:txBody>
                  <a:tcPr marL="110820" marR="110820" marT="55410" marB="5541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200" u="none" strike="noStrike" noProof="0">
                          <a:solidFill>
                            <a:srgbClr val="000000"/>
                          </a:solidFill>
                        </a:rPr>
                        <a:t>Offshore Data Scientist</a:t>
                      </a:r>
                      <a:endParaRPr lang="en-US" sz="2200"/>
                    </a:p>
                  </a:txBody>
                  <a:tcPr marL="110820" marR="110820" marT="55410" marB="55410"/>
                </a:tc>
                <a:extLst>
                  <a:ext uri="{0D108BD9-81ED-4DB2-BD59-A6C34878D82A}">
                    <a16:rowId xmlns:a16="http://schemas.microsoft.com/office/drawing/2014/main" val="92265255"/>
                  </a:ext>
                </a:extLst>
              </a:tr>
              <a:tr h="480667">
                <a:tc>
                  <a:txBody>
                    <a:bodyPr/>
                    <a:lstStyle/>
                    <a:p>
                      <a:r>
                        <a:rPr lang="en-US" sz="2200"/>
                        <a:t>P25</a:t>
                      </a:r>
                    </a:p>
                  </a:txBody>
                  <a:tcPr marL="110820" marR="110820" marT="55410" marB="5541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200" u="none" strike="noStrike" noProof="0"/>
                        <a:t>$88,125</a:t>
                      </a:r>
                      <a:endParaRPr lang="en-US" sz="2200"/>
                    </a:p>
                  </a:txBody>
                  <a:tcPr marL="110820" marR="110820" marT="55410" marB="5541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200" u="none" strike="noStrike" noProof="0"/>
                        <a:t>$16,904</a:t>
                      </a:r>
                      <a:endParaRPr lang="en-US" sz="2200"/>
                    </a:p>
                  </a:txBody>
                  <a:tcPr marL="110820" marR="110820" marT="55410" marB="55410"/>
                </a:tc>
                <a:extLst>
                  <a:ext uri="{0D108BD9-81ED-4DB2-BD59-A6C34878D82A}">
                    <a16:rowId xmlns:a16="http://schemas.microsoft.com/office/drawing/2014/main" val="4283764422"/>
                  </a:ext>
                </a:extLst>
              </a:tr>
              <a:tr h="480667">
                <a:tc>
                  <a:txBody>
                    <a:bodyPr/>
                    <a:lstStyle/>
                    <a:p>
                      <a:r>
                        <a:rPr lang="en-US" sz="2200"/>
                        <a:t>Median</a:t>
                      </a:r>
                    </a:p>
                  </a:txBody>
                  <a:tcPr marL="110820" marR="110820" marT="55410" marB="5541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200" u="none" strike="noStrike" noProof="0"/>
                        <a:t>$95,000</a:t>
                      </a:r>
                      <a:endParaRPr lang="en-US" sz="2200"/>
                    </a:p>
                  </a:txBody>
                  <a:tcPr marL="110820" marR="110820" marT="55410" marB="5541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200" u="none" strike="noStrike" noProof="0"/>
                        <a:t>$45,760</a:t>
                      </a:r>
                      <a:endParaRPr lang="en-US" sz="2200"/>
                    </a:p>
                  </a:txBody>
                  <a:tcPr marL="110820" marR="110820" marT="55410" marB="55410"/>
                </a:tc>
                <a:extLst>
                  <a:ext uri="{0D108BD9-81ED-4DB2-BD59-A6C34878D82A}">
                    <a16:rowId xmlns:a16="http://schemas.microsoft.com/office/drawing/2014/main" val="876896644"/>
                  </a:ext>
                </a:extLst>
              </a:tr>
              <a:tr h="480667">
                <a:tc>
                  <a:txBody>
                    <a:bodyPr/>
                    <a:lstStyle/>
                    <a:p>
                      <a:r>
                        <a:rPr lang="en-US" sz="2200"/>
                        <a:t>P75</a:t>
                      </a:r>
                    </a:p>
                  </a:txBody>
                  <a:tcPr marL="110820" marR="110820" marT="55410" marB="5541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200" u="none" strike="noStrike" noProof="0"/>
                        <a:t>$101,250</a:t>
                      </a:r>
                      <a:endParaRPr lang="en-US" sz="2200"/>
                    </a:p>
                  </a:txBody>
                  <a:tcPr marL="110820" marR="110820" marT="55410" marB="5541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200" u="none" strike="noStrike" noProof="0"/>
                        <a:t>$62,726</a:t>
                      </a:r>
                      <a:endParaRPr lang="en-US" sz="2200"/>
                    </a:p>
                  </a:txBody>
                  <a:tcPr marL="110820" marR="110820" marT="55410" marB="55410"/>
                </a:tc>
                <a:extLst>
                  <a:ext uri="{0D108BD9-81ED-4DB2-BD59-A6C34878D82A}">
                    <a16:rowId xmlns:a16="http://schemas.microsoft.com/office/drawing/2014/main" val="1329932356"/>
                  </a:ext>
                </a:extLst>
              </a:tr>
              <a:tr h="815569">
                <a:tc>
                  <a:txBody>
                    <a:bodyPr/>
                    <a:lstStyle/>
                    <a:p>
                      <a:r>
                        <a:rPr lang="en-US" sz="2200"/>
                        <a:t>IQR Range</a:t>
                      </a:r>
                    </a:p>
                  </a:txBody>
                  <a:tcPr marL="110820" marR="110820" marT="55410" marB="5541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200" u="none" strike="noStrike" noProof="0"/>
                        <a:t>$88,125 –$101,250</a:t>
                      </a:r>
                      <a:endParaRPr lang="en-US" sz="2200"/>
                    </a:p>
                  </a:txBody>
                  <a:tcPr marL="110820" marR="110820" marT="55410" marB="5541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200" u="none" strike="noStrike" noProof="0"/>
                        <a:t>$16,904 –$62,726</a:t>
                      </a:r>
                      <a:endParaRPr lang="en-US" sz="2200"/>
                    </a:p>
                  </a:txBody>
                  <a:tcPr marL="110820" marR="110820" marT="55410" marB="55410"/>
                </a:tc>
                <a:extLst>
                  <a:ext uri="{0D108BD9-81ED-4DB2-BD59-A6C34878D82A}">
                    <a16:rowId xmlns:a16="http://schemas.microsoft.com/office/drawing/2014/main" val="21197768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8612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2763C-9C38-1120-59BE-B8C626C81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4425406" cy="5021967"/>
          </a:xfrm>
        </p:spPr>
        <p:txBody>
          <a:bodyPr anchor="t">
            <a:normAutofit/>
          </a:bodyPr>
          <a:lstStyle/>
          <a:p>
            <a:r>
              <a:rPr lang="en-US" sz="3600" b="0" dirty="0">
                <a:latin typeface="Rockwell"/>
                <a:ea typeface="+mj-lt"/>
                <a:cs typeface="+mj-lt"/>
              </a:rPr>
              <a:t>Final Recommendation to CEO</a:t>
            </a:r>
            <a:endParaRPr lang="en-US" sz="3600" dirty="0">
              <a:latin typeface="Rockwel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3F4D6-48DB-F68C-EFC6-DEB03AFA7E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1218" y="133291"/>
            <a:ext cx="5849791" cy="6258889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buNone/>
            </a:pPr>
            <a:r>
              <a:rPr lang="en-US" b="1" dirty="0"/>
              <a:t>U.S. Hire (Preferred)</a:t>
            </a:r>
            <a:endParaRPr lang="en-US" dirty="0"/>
          </a:p>
          <a:p>
            <a:pPr>
              <a:buNone/>
            </a:pPr>
            <a:r>
              <a:rPr lang="en-US" sz="1200" b="1" dirty="0">
                <a:ea typeface="+mn-lt"/>
                <a:cs typeface="+mn-lt"/>
              </a:rPr>
              <a:t>Recommended Salary Range: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b="1" dirty="0">
                <a:ea typeface="+mn-lt"/>
                <a:cs typeface="+mn-lt"/>
              </a:rPr>
              <a:t>$90K – $105K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sz="1200" dirty="0">
                <a:ea typeface="+mn-lt"/>
                <a:cs typeface="+mn-lt"/>
              </a:rPr>
              <a:t>Aligned with the </a:t>
            </a:r>
            <a:r>
              <a:rPr lang="en-US" sz="1200" b="1" dirty="0">
                <a:ea typeface="+mn-lt"/>
                <a:cs typeface="+mn-lt"/>
              </a:rPr>
              <a:t>U.S. IQR: $88K – $101K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sz="1200" dirty="0">
                <a:ea typeface="+mn-lt"/>
                <a:cs typeface="+mn-lt"/>
              </a:rPr>
              <a:t>Competitive without exceeding small-company norms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sz="1200" dirty="0">
                <a:ea typeface="+mn-lt"/>
                <a:cs typeface="+mn-lt"/>
              </a:rPr>
              <a:t>Supports hiring someone who can </a:t>
            </a:r>
            <a:r>
              <a:rPr lang="en-US" sz="1200" b="1" dirty="0">
                <a:ea typeface="+mn-lt"/>
                <a:cs typeface="+mn-lt"/>
              </a:rPr>
              <a:t>own analytics now</a:t>
            </a:r>
            <a:r>
              <a:rPr lang="en-US" sz="1200" dirty="0">
                <a:ea typeface="+mn-lt"/>
                <a:cs typeface="+mn-lt"/>
              </a:rPr>
              <a:t> and grow into </a:t>
            </a:r>
            <a:r>
              <a:rPr lang="en-US" sz="1200" b="1" dirty="0">
                <a:ea typeface="+mn-lt"/>
                <a:cs typeface="+mn-lt"/>
              </a:rPr>
              <a:t>Lead Data Scientist</a:t>
            </a:r>
            <a:r>
              <a:rPr lang="en-US" sz="1200" dirty="0">
                <a:ea typeface="+mn-lt"/>
                <a:cs typeface="+mn-lt"/>
              </a:rPr>
              <a:t> later</a:t>
            </a:r>
            <a:endParaRPr lang="en-US" dirty="0"/>
          </a:p>
          <a:p>
            <a:pPr>
              <a:buNone/>
            </a:pPr>
            <a:r>
              <a:rPr lang="en-US" b="1" dirty="0"/>
              <a:t>Offshore Hire (Alternative Option)</a:t>
            </a:r>
            <a:endParaRPr lang="en-US" dirty="0"/>
          </a:p>
          <a:p>
            <a:pPr>
              <a:buNone/>
            </a:pPr>
            <a:r>
              <a:rPr lang="en-US" sz="1200" b="1" dirty="0">
                <a:ea typeface="+mn-lt"/>
                <a:cs typeface="+mn-lt"/>
              </a:rPr>
              <a:t>Recommended Salary Range: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b="1" dirty="0">
                <a:ea typeface="+mn-lt"/>
                <a:cs typeface="+mn-lt"/>
              </a:rPr>
              <a:t>$45K – $60K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sz="1200" dirty="0">
                <a:ea typeface="+mn-lt"/>
                <a:cs typeface="+mn-lt"/>
              </a:rPr>
              <a:t>Based on the </a:t>
            </a:r>
            <a:r>
              <a:rPr lang="en-US" sz="1200" b="1" dirty="0">
                <a:ea typeface="+mn-lt"/>
                <a:cs typeface="+mn-lt"/>
              </a:rPr>
              <a:t>upper half of the offshore IQR: $45K – $63K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sz="1200" dirty="0">
                <a:ea typeface="+mn-lt"/>
                <a:cs typeface="+mn-lt"/>
              </a:rPr>
              <a:t>Cost-effective option, but offshore salaries vary widely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sz="1200" dirty="0">
                <a:ea typeface="+mn-lt"/>
                <a:cs typeface="+mn-lt"/>
              </a:rPr>
              <a:t>May introduce challenges with time zones, communication, and future leadership capability</a:t>
            </a:r>
            <a:endParaRPr lang="en-US" dirty="0"/>
          </a:p>
          <a:p>
            <a:pPr>
              <a:buNone/>
            </a:pPr>
            <a:r>
              <a:rPr lang="en-US" b="1" dirty="0"/>
              <a:t>Why This Works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sz="1200" dirty="0">
                <a:ea typeface="+mn-lt"/>
                <a:cs typeface="+mn-lt"/>
              </a:rPr>
              <a:t>Directly grounded in </a:t>
            </a:r>
            <a:r>
              <a:rPr lang="en-US" sz="1200" b="1" dirty="0">
                <a:ea typeface="+mn-lt"/>
                <a:cs typeface="+mn-lt"/>
              </a:rPr>
              <a:t>Data Scientist IQR data</a:t>
            </a:r>
            <a:r>
              <a:rPr lang="en-US" sz="1200" dirty="0">
                <a:ea typeface="+mn-lt"/>
                <a:cs typeface="+mn-lt"/>
              </a:rPr>
              <a:t> (no outliers, no inflated ranges)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sz="1200" dirty="0">
                <a:ea typeface="+mn-lt"/>
                <a:cs typeface="+mn-lt"/>
              </a:rPr>
              <a:t>Fits the compensation realities of a </a:t>
            </a:r>
            <a:r>
              <a:rPr lang="en-US" sz="1200" b="1" dirty="0">
                <a:ea typeface="+mn-lt"/>
                <a:cs typeface="+mn-lt"/>
              </a:rPr>
              <a:t>small but rapidly growing</a:t>
            </a:r>
            <a:r>
              <a:rPr lang="en-US" sz="1200" dirty="0">
                <a:ea typeface="+mn-lt"/>
                <a:cs typeface="+mn-lt"/>
              </a:rPr>
              <a:t> company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sz="1200" dirty="0">
                <a:ea typeface="+mn-lt"/>
                <a:cs typeface="+mn-lt"/>
              </a:rPr>
              <a:t>Competitive enough to attract strong U.S. candidates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sz="1200" dirty="0">
                <a:ea typeface="+mn-lt"/>
                <a:cs typeface="+mn-lt"/>
              </a:rPr>
              <a:t>Offshore option preserves cost efficiency if budget becomes a constraint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sz="1200" dirty="0">
                <a:ea typeface="+mn-lt"/>
                <a:cs typeface="+mn-lt"/>
              </a:rPr>
              <a:t>Leaves room for salary progression as the role evolves into </a:t>
            </a:r>
            <a:r>
              <a:rPr lang="en-US" sz="1200" b="1" dirty="0">
                <a:ea typeface="+mn-lt"/>
                <a:cs typeface="+mn-lt"/>
              </a:rPr>
              <a:t>Lead Data Scientist</a:t>
            </a:r>
            <a:endParaRPr lang="en-US" dirty="0"/>
          </a:p>
          <a:p>
            <a:pPr marL="0" indent="0">
              <a:lnSpc>
                <a:spcPct val="110000"/>
              </a:lnSpc>
              <a:buNone/>
            </a:pPr>
            <a:endParaRPr lang="en-US" sz="1200" b="1" dirty="0"/>
          </a:p>
          <a:p>
            <a:pPr>
              <a:lnSpc>
                <a:spcPct val="110000"/>
              </a:lnSpc>
            </a:pPr>
            <a:endParaRPr lang="en-US" sz="100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209265E-E0D7-493B-97CE-2263D50C3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6274602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1967241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DashVTI</vt:lpstr>
      <vt:lpstr>Market Salary Analysis for a Data Scientist Hire     </vt:lpstr>
      <vt:lpstr>Introduction to the Analysis </vt:lpstr>
      <vt:lpstr>Data Used &amp; Filtering</vt:lpstr>
      <vt:lpstr>U.S. vs. Offshore Salaries (Data Scientist — Small Companies)  </vt:lpstr>
      <vt:lpstr>Recommended Job Title — “Data Scientist” (with growth path to Lead Data Scientist)</vt:lpstr>
      <vt:lpstr>Salary Range Recommendation (Based on IQR)</vt:lpstr>
      <vt:lpstr>Final Recommendation to CEO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313</cp:revision>
  <dcterms:created xsi:type="dcterms:W3CDTF">2025-11-13T02:20:14Z</dcterms:created>
  <dcterms:modified xsi:type="dcterms:W3CDTF">2025-11-15T19:18:13Z</dcterms:modified>
</cp:coreProperties>
</file>